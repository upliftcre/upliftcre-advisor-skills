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69" r:id="rId35"/>
    <p:sldId id="257" r:id="rId7"/>
    <p:sldId id="270" r:id="rId36"/>
    <p:sldId id="258" r:id="rId8"/>
    <p:sldId id="259" r:id="rId9"/>
    <p:sldId id="260" r:id="rId10"/>
    <p:sldId id="261" r:id="rId11"/>
    <p:sldId id="262" r:id="rId12"/>
    <p:sldId id="271" r:id="rId37"/>
    <p:sldId id="263" r:id="rId13"/>
    <p:sldId id="268" r:id="rId34"/>
    <p:sldId id="265" r:id="rId15"/>
    <p:sldId id="267" r:id="rId17"/>
    <p:sldId id="272" r:id="rId38"/>
  </p:sldIdLst>
  <p:sldSz cy="7772400" cx="10058400"/>
  <p:notesSz cx="6858000" cy="9144000"/>
  <p:embeddedFontLst>
    <p:embeddedFont>
      <p:font typeface="Playfair Display Medium"/>
      <p:regular r:id="rId18"/>
      <p:bold r:id="rId19"/>
      <p:italic r:id="rId20"/>
      <p:boldItalic r:id="rId21"/>
    </p:embeddedFont>
    <p:embeddedFont>
      <p:font typeface="Playfair Display"/>
      <p:regular r:id="rId22"/>
      <p:bold r:id="rId23"/>
      <p:italic r:id="rId24"/>
      <p:boldItalic r:id="rId25"/>
    </p:embeddedFont>
    <p:embeddedFont>
      <p:font typeface="Playfair Display ExtraBold"/>
      <p:bold r:id="rId26"/>
      <p:boldItalic r:id="rId27"/>
    </p:embeddedFont>
    <p:embeddedFont>
      <p:font typeface="Oswald"/>
      <p:regular r:id="rId28"/>
      <p:bold r:id="rId29"/>
    </p:embeddedFont>
    <p:embeddedFont>
      <p:font typeface="Playfair Display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9pPr>
  </p:defaultTextStyle>
  <p:extLst>
    <p:ext uri="{EFAFB233-063F-42B5-8137-9DF3F51BA10A}">
      <p15:sldGuideLst>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1.xml"/><Relationship Id="rId15"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font" Target="fonts/PlayfairDisplayMedium-regular.fntdata"/><Relationship Id="rId19" Type="http://schemas.openxmlformats.org/officeDocument/2006/relationships/font" Target="fonts/PlayfairDisplayMedium-bold.fntdata"/><Relationship Id="rId20" Type="http://schemas.openxmlformats.org/officeDocument/2006/relationships/font" Target="fonts/PlayfairDisplayMedium-italic.fntdata"/><Relationship Id="rId21" Type="http://schemas.openxmlformats.org/officeDocument/2006/relationships/font" Target="fonts/PlayfairDisplayMedium-boldItalic.fntdata"/><Relationship Id="rId22" Type="http://schemas.openxmlformats.org/officeDocument/2006/relationships/font" Target="fonts/PlayfairDisplay-regular.fntdata"/><Relationship Id="rId23" Type="http://schemas.openxmlformats.org/officeDocument/2006/relationships/font" Target="fonts/PlayfairDisplay-bold.fntdata"/><Relationship Id="rId24" Type="http://schemas.openxmlformats.org/officeDocument/2006/relationships/font" Target="fonts/PlayfairDisplay-italic.fntdata"/><Relationship Id="rId25" Type="http://schemas.openxmlformats.org/officeDocument/2006/relationships/font" Target="fonts/PlayfairDisplay-boldItalic.fntdata"/><Relationship Id="rId26" Type="http://schemas.openxmlformats.org/officeDocument/2006/relationships/font" Target="fonts/PlayfairDisplayExtraBold-bold.fntdata"/><Relationship Id="rId27" Type="http://schemas.openxmlformats.org/officeDocument/2006/relationships/font" Target="fonts/PlayfairDisplayExtraBold-boldItalic.fntdata"/><Relationship Id="rId28" Type="http://schemas.openxmlformats.org/officeDocument/2006/relationships/font" Target="fonts/Oswald-regular.fntdata"/><Relationship Id="rId29" Type="http://schemas.openxmlformats.org/officeDocument/2006/relationships/font" Target="fonts/Oswald-bold.fntdata"/><Relationship Id="rId30" Type="http://schemas.openxmlformats.org/officeDocument/2006/relationships/font" Target="fonts/PlayfairDisplaySemiBold-regular.fntdata"/><Relationship Id="rId31" Type="http://schemas.openxmlformats.org/officeDocument/2006/relationships/font" Target="fonts/PlayfairDisplaySemiBold-bold.fntdata"/><Relationship Id="rId32" Type="http://schemas.openxmlformats.org/officeDocument/2006/relationships/font" Target="fonts/PlayfairDisplaySemiBold-italic.fntdata"/><Relationship Id="rId33" Type="http://schemas.openxmlformats.org/officeDocument/2006/relationships/font" Target="fonts/PlayfairDisplaySemiBold-boldItalic.fntdata"/><Relationship Id="rId34" Type="http://schemas.openxmlformats.org/officeDocument/2006/relationships/slide" Target="slides/slide12.xml"/><Relationship Id="rId35" Type="http://schemas.openxmlformats.org/officeDocument/2006/relationships/slide" Target="slides/slide2.xml"/><Relationship Id="rId36" Type="http://schemas.openxmlformats.org/officeDocument/2006/relationships/slide" Target="slides/slide4.xml"/><Relationship Id="rId37" Type="http://schemas.openxmlformats.org/officeDocument/2006/relationships/slide" Target="slides/slide10.xml"/><Relationship Id="rId38"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4621c0d8be_0_20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4621c0d8b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d54a3c1c19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d54a3c1c1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947ddffb6b_0_5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947ddffb6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72eda80b1_0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72eda80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b6ac96b0c6_0_36: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b6ac96b0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83209bcc8_0_4: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e83209bcc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83209bcc8_0_17: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83209bcc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da105d130a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da105d130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99118ad0a_0_2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499118ad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a92004b9e_3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5a92004b9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900" cy="31017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42870" y="4282678"/>
            <a:ext cx="9372900" cy="1197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42870" y="3250173"/>
            <a:ext cx="9372900" cy="127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42870" y="1741518"/>
            <a:ext cx="9372900" cy="516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4287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531564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42870" y="2099840"/>
            <a:ext cx="3088800" cy="4804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400" cy="6181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92050" y="1863464"/>
            <a:ext cx="4449600" cy="2239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92050" y="4235758"/>
            <a:ext cx="4449600" cy="1866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5433450" y="1094158"/>
            <a:ext cx="4221000" cy="5583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900" cy="296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42870" y="4763362"/>
            <a:ext cx="9372900" cy="1965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900" cy="865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42870" y="1741518"/>
            <a:ext cx="9372900" cy="516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9319704" y="7046639"/>
            <a:ext cx="603600" cy="5949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svn.com" TargetMode="External"/><Relationship Id="rId6" Type="http://schemas.openxmlformats.org/officeDocument/2006/relationships/image" Target="../media/image1.png"/><Relationship Id="rId7" Type="http://schemas.openxmlformats.org/officeDocument/2006/relationships/hyperlink" Target="https://svn.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svn.com" TargetMode="External"/><Relationship Id="rId6" Type="http://schemas.openxmlformats.org/officeDocument/2006/relationships/image" Target="../media/image1.png"/><Relationship Id="rId7" Type="http://schemas.openxmlformats.org/officeDocument/2006/relationships/hyperlink" Target="https://svn.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svn.com" TargetMode="External"/><Relationship Id="rId11" Type="http://schemas.openxmlformats.org/officeDocument/2006/relationships/image" Target="../media/image1.png"/><Relationship Id="rId12" Type="http://schemas.openxmlformats.org/officeDocument/2006/relationships/hyperlink" Target="https://svn.com" TargetMode="External"/><Relationship Id="rId13" Type="http://schemas.openxmlformats.org/officeDocument/2006/relationships/image" Target="../media/image3.png"/><Relationship Id="rId14" Type="http://schemas.openxmlformats.org/officeDocument/2006/relationships/image" Target="../media/image6.png"/><Relationship Id="rId15" Type="http://schemas.openxmlformats.org/officeDocument/2006/relationships/image" Target="../media/image5.png"/><Relationship Id="rId18" Type="http://schemas.openxmlformats.org/officeDocument/2006/relationships/image" Target="../media/image7.png"/><Relationship Id="rId19" Type="http://schemas.openxmlformats.org/officeDocument/2006/relationships/image" Target="../media/image9.png"/><Relationship Id="rId20" Type="http://schemas.openxmlformats.org/officeDocument/2006/relationships/image" Target="../media/image10.png"/><Relationship Id="rId21"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svn.com" TargetMode="External"/><Relationship Id="rId11" Type="http://schemas.openxmlformats.org/officeDocument/2006/relationships/image" Target="../media/image1.png"/><Relationship Id="rId12" Type="http://schemas.openxmlformats.org/officeDocument/2006/relationships/hyperlink" Target="https://svn.com" TargetMode="External"/><Relationship Id="rId13" Type="http://schemas.openxmlformats.org/officeDocument/2006/relationships/image" Target="../media/image3.png"/><Relationship Id="rId14" Type="http://schemas.openxmlformats.org/officeDocument/2006/relationships/image" Target="../media/image13.png"/><Relationship Id="rId15" Type="http://schemas.openxmlformats.org/officeDocument/2006/relationships/image" Target="../media/image12.png"/><Relationship Id="rId18" Type="http://schemas.openxmlformats.org/officeDocument/2006/relationships/image" Target="../media/image14.png"/><Relationship Id="rId19" Type="http://schemas.openxmlformats.org/officeDocument/2006/relationships/image" Target="../media/image16.png"/><Relationship Id="rId20" Type="http://schemas.openxmlformats.org/officeDocument/2006/relationships/image" Target="../media/image18.png"/><Relationship Id="rId21"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0.png"/><Relationship Id="rId10" Type="http://schemas.openxmlformats.org/officeDocument/2006/relationships/hyperlink" Target="tel:{{AGENT_PHON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1.png"/><Relationship Id="rId10" Type="http://schemas.openxmlformats.org/officeDocument/2006/relationships/hyperlink" Target="tel:{{AGENT_PHON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2.png"/><Relationship Id="rId10" Type="http://schemas.openxmlformats.org/officeDocument/2006/relationships/hyperlink" Target="tel:{{AGENT_PHON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5.jpg"/><Relationship Id="rId5" Type="http://schemas.openxmlformats.org/officeDocument/2006/relationships/hyperlink" Target="https://svn.com" TargetMode="External"/><Relationship Id="rId6" Type="http://schemas.openxmlformats.org/officeDocument/2006/relationships/image" Target="../media/image1.png"/><Relationship Id="rId7" Type="http://schemas.openxmlformats.org/officeDocument/2006/relationships/hyperlink" Target="https://svn.com" TargetMode="External"/><Relationship Id="rId8" Type="http://schemas.openxmlformats.org/officeDocument/2006/relationships/image" Target="../media/image3.png"/><Relationship Id="rId9" Type="http://schemas.openxmlformats.org/officeDocument/2006/relationships/hyperlink" Target="mailto:{{AGENT_EMAIL}}" TargetMode="External"/><Relationship Id="rId10" Type="http://schemas.openxmlformats.org/officeDocument/2006/relationships/hyperlink" Target="tel:{{AGENT_PHO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5" Type="http://schemas.openxmlformats.org/officeDocument/2006/relationships/image" Target="../media/image17.jpg"/><Relationship Id="rId6" Type="http://schemas.openxmlformats.org/officeDocument/2006/relationships/hyperlink" Target="mailto:{{AGENT_EMAIL}}" TargetMode="External"/><Relationship Id="rId7" Type="http://schemas.openxmlformats.org/officeDocument/2006/relationships/hyperlink" Target="https://svn.com" TargetMode="External"/><Relationship Id="rId8" Type="http://schemas.openxmlformats.org/officeDocument/2006/relationships/image" Target="../media/image1.png"/><Relationship Id="rId9" Type="http://schemas.openxmlformats.org/officeDocument/2006/relationships/hyperlink" Target="https://svn.com" TargetMode="External"/><Relationship Id="rId10"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svn.com" TargetMode="External"/><Relationship Id="rId5" Type="http://schemas.openxmlformats.org/officeDocument/2006/relationships/image" Target="../media/image1.png"/><Relationship Id="rId6" Type="http://schemas.openxmlformats.org/officeDocument/2006/relationships/hyperlink" Target="https://svn.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10058399" cy="787875"/>
          </a:xfrm>
          <a:prstGeom prst="rect">
            <a:avLst/>
          </a:prstGeom>
          <a:noFill/>
          <a:ln>
            <a:noFill/>
          </a:ln>
        </p:spPr>
      </p:pic>
      <p:sp>
        <p:nvSpPr>
          <p:cNvPr id="55" name="Google Shape;55;p13"/>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indent="0" lvl="0" marL="0" rtl="0" algn="l">
              <a:lnSpc>
                <a:spcPct val="115000"/>
              </a:lnSpc>
              <a:spcBef>
                <a:spcPts val="0"/>
              </a:spcBef>
              <a:spcAft>
                <a:spcPts val="0"/>
              </a:spcAft>
              <a:buNone/>
            </a:pPr>
            <a:r>
              <a:rPr b="1" lang="en" sz="2400">
                <a:solidFill>
                  <a:schemeClr val="lt1"/>
                </a:solidFill>
                <a:latin typeface="Calibri"/>
                <a:ea typeface="Calibri"/>
                <a:cs typeface="Calibri"/>
                <a:sym typeface="Calibri"/>
              </a:rPr>
              <a:t>{{HEADLINE}}</a:t>
            </a:r>
            <a:endParaRPr b="1" sz="2400">
              <a:solidFill>
                <a:schemeClr val="lt1"/>
              </a:solidFill>
              <a:latin typeface="Calibri"/>
              <a:ea typeface="Calibri"/>
              <a:cs typeface="Calibri"/>
              <a:sym typeface="Calibri"/>
            </a:endParaRPr>
          </a:p>
        </p:txBody>
      </p:sp>
      <p:sp>
        <p:nvSpPr>
          <p:cNvPr id="56" name="Google Shape;56;p13"/>
          <p:cNvSpPr txBox="1"/>
          <p:nvPr/>
        </p:nvSpPr>
        <p:spPr>
          <a:xfrm>
            <a:off x="152175" y="5000000"/>
            <a:ext cx="1400000" cy="1500000"/>
          </a:xfrm>
          <a:prstGeom prst="rect">
            <a:avLst/>
          </a:prstGeom>
          <a:noFill/>
          <a:ln>
            <a:noFill/>
          </a:ln>
        </p:spPr>
        <p:txBody>
          <a:bodyPr anchorCtr="0" anchor="t" bIns="0" lIns="91425" rIns="91425" tIns="45720" spcFirstLastPara="1" wrap="square">
            <a:spAutoFit/>
          </a:bodyPr>
          <a:lstStyle/>
          <a:p>
            <a:pPr marL="0" indent="0" algn="l">
              <a:lnSpc>
                <a:spcPct val="100000"/>
              </a:lnSpc>
              <a:spcBef>
                <a:spcPts val="0"/>
              </a:spcBef>
              <a:spcAft>
                <a:spcPts val="0"/>
              </a:spcAft>
              <a:buNone/>
            </a:pPr>
            <a:r>
              <a:rPr lang="en-US" sz="1100" b="1">
                <a:solidFill>
                  <a:srgbClr val="171715"/>
                </a:solidFill>
                <a:latin typeface="Calibri"/>
                <a:cs typeface="Calibri"/>
              </a:rPr>
              <a:t>{{SIZE_LABEL}}</a:t>
            </a:r>
            <a:endParaRPr lang="en-US" sz="1100" b="1">
              <a:solidFill>
                <a:srgbClr val="171715"/>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{{SIZE}}</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171715"/>
                </a:solidFill>
                <a:latin typeface="Calibri"/>
                <a:cs typeface="Calibri"/>
              </a:rPr>
              <a:t>ZONING</a:t>
            </a:r>
            <a:endParaRPr lang="en-US" sz="1100" b="1">
              <a:solidFill>
                <a:srgbClr val="171715"/>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{{ZONING}}</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171715"/>
                </a:solidFill>
                <a:latin typeface="Calibri"/>
                <a:cs typeface="Calibri"/>
              </a:rPr>
              <a:t>{{PPU_LABEL}}</a:t>
            </a:r>
            <a:endParaRPr lang="en-US" sz="1100" b="1">
              <a:solidFill>
                <a:srgbClr val="171715"/>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{{PPU}}</a:t>
            </a:r>
            <a:endParaRPr lang="en-US" sz="1600" b="1">
              <a:solidFill>
                <a:srgbClr val="222222"/>
              </a:solidFill>
              <a:latin typeface="Calibri"/>
              <a:cs typeface="Calibri"/>
            </a:endParaRPr>
          </a:p>
        </p:txBody>
      </p:sp>
      <p:sp>
        <p:nvSpPr>
          <p:cNvPr id="57" name="Google Shape;57;p13"/>
          <p:cNvSpPr txBox="1"/>
          <p:nvPr/>
        </p:nvSpPr>
        <p:spPr>
          <a:xfrm>
            <a:off x="1650000" y="5000000"/>
            <a:ext cx="8250000" cy="1500000"/>
          </a:xfrm>
          <a:prstGeom prst="rect">
            <a:avLst/>
          </a:prstGeom>
          <a:noFill/>
          <a:ln>
            <a:noFill/>
          </a:ln>
        </p:spPr>
        <p:txBody>
          <a:bodyPr anchorCtr="0" anchor="t" bIns="0" lIns="91425" rIns="91425" tIns="45720" spcFirstLastPara="1" wrap="square">
            <a:spAutoFit/>
          </a:bodyPr>
          <a:lstStyle/>
          <a:p>
            <a:pPr marL="0" indent="0" algn="l">
              <a:lnSpc>
                <a:spcPct val="115000"/>
              </a:lnSpc>
              <a:spcBef>
                <a:spcPts val="0"/>
              </a:spcBef>
              <a:spcAft>
                <a:spcPts val="6"/>
              </a:spcAft>
              <a:buNone/>
            </a:pPr>
            <a:r>
              <a:rPr lang="en-US" sz="1100" b="1">
                <a:solidFill>
                  <a:srgbClr val="171715"/>
                </a:solidFill>
                <a:latin typeface="Calibri"/>
                <a:cs typeface="Calibri"/>
              </a:rPr>
              <a:t>LOCATION  </a:t>
            </a:r>
            <a:r>
              <a:rPr lang="en-US" sz="1400" b="1">
                <a:solidFill>
                  <a:srgbClr val="222222"/>
                </a:solidFill>
                <a:latin typeface="Calibri"/>
                <a:cs typeface="Calibri"/>
              </a:rPr>
              <a:t>{{ADDRESS}}, {{CITY}}, {{STATE}} {{ZIP}} ({{COUNTY}} County)</a:t>
            </a:r>
            <a:endParaRPr lang="en-US" sz="1400" b="1">
              <a:solidFill>
                <a:srgbClr val="222222"/>
              </a:solidFill>
              <a:latin typeface="Calibri"/>
              <a:cs typeface="Calibri"/>
            </a:endParaRPr>
          </a:p>
          <a:p>
            <a:pPr marL="0" indent="0" algn="l">
              <a:lnSpc>
                <a:spcPct val="120000"/>
              </a:lnSpc>
              <a:spcBef>
                <a:spcPts val="0"/>
              </a:spcBef>
              <a:spcAft>
                <a:spcPts val="0"/>
              </a:spcAft>
              <a:buNone/>
            </a:pPr>
            <a:r>
              <a:rPr lang="en-US" sz="1100" b="1">
                <a:solidFill>
                  <a:srgbClr val="171715"/>
                </a:solidFill>
                <a:latin typeface="Calibri"/>
                <a:cs typeface="Calibri"/>
              </a:rPr>
              <a:t>SUMMARY  </a:t>
            </a:r>
            <a:r>
              <a:rPr lang="en-US" sz="1200" b="0">
                <a:solidFill>
                  <a:srgbClr val="222222"/>
                </a:solidFill>
                <a:latin typeface="Calibri"/>
                <a:cs typeface="Calibri"/>
              </a:rPr>
              <a:t>{{COVER_SUMMARY}}  Three or four sentences: the story, the size, the location and who it suits.</a:t>
            </a:r>
            <a:endParaRPr lang="en-US" sz="1200" b="0">
              <a:solidFill>
                <a:srgbClr val="222222"/>
              </a:solidFill>
              <a:latin typeface="Calibri"/>
              <a:cs typeface="Calibri"/>
            </a:endParaRPr>
          </a:p>
        </p:txBody>
      </p:sp>
      <p:sp>
        <p:nvSpPr>
          <p:cNvPr id="58" name="Google Shape;58;p13"/>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13"/>
          <p:cNvPicPr preferRelativeResize="0"/>
          <p:nvPr/>
        </p:nvPicPr>
        <p:blipFill rotWithShape="1">
          <a:blip r:embed="rId10">
            <a:alphaModFix/>
          </a:blip>
          <a:stretch/>
        </p:blipFill>
        <p:spPr>
          <a:xfrm>
            <a:off x="0" y="787875"/>
            <a:ext cx="10058400" cy="4154503"/>
          </a:xfrm>
          <a:prstGeom prst="rect">
            <a:avLst/>
          </a:prstGeom>
          <a:noFill/>
          <a:ln>
            <a:noFill/>
          </a:ln>
        </p:spPr>
      </p:pic>
      <p:sp>
        <p:nvSpPr>
          <p:cNvPr id="60" name="Google Shape;60;p13"/>
          <p:cNvSpPr/>
          <p:nvPr/>
        </p:nvSpPr>
        <p:spPr>
          <a:xfrm>
            <a:off x="7158000" y="4318000"/>
            <a:ext cx="2700000" cy="5200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txBox="1"/>
          <p:nvPr/>
        </p:nvSpPr>
        <p:spPr>
          <a:xfrm>
            <a:off x="7158000" y="4318000"/>
            <a:ext cx="2700000" cy="520000"/>
          </a:xfrm>
          <a:prstGeom prst="rect">
            <a:avLst/>
          </a:prstGeom>
          <a:noFill/>
          <a:ln>
            <a:noFill/>
          </a:ln>
        </p:spPr>
        <p:txBody>
          <a:bodyPr anchorCtr="0" anchor="ctr" bIns="0" lIns="0" rIns="0" tIns="0" spcFirstLastPara="1" wrap="square">
            <a:noAutofit/>
          </a:bodyPr>
          <a:lstStyle/>
          <a:p>
            <a:pPr marL="0" indent="0" algn="ctr">
              <a:lnSpc>
                <a:spcPct val="100000"/>
              </a:lnSpc>
              <a:spcBef>
                <a:spcPts val="0"/>
              </a:spcBef>
              <a:spcAft>
                <a:spcPts val="0"/>
              </a:spcAft>
              <a:buNone/>
            </a:pPr>
            <a:r>
              <a:rPr lang="en-US" sz="2600" b="1">
                <a:solidFill>
                  <a:srgbClr val="FFFFFF"/>
                </a:solidFill>
                <a:latin typeface="Calibri"/>
                <a:cs typeface="Calibri"/>
              </a:rPr>
              <a:t>{{PRICE}}</a:t>
            </a:r>
            <a:endParaRPr lang="en-US" sz="2600" b="1">
              <a:solidFill>
                <a:srgbClr val="FFFFFF"/>
              </a:solidFill>
              <a:latin typeface="Calibri"/>
              <a:cs typeface="Calibri"/>
            </a:endParaRPr>
          </a:p>
        </p:txBody>
      </p:sp>
      <p:sp>
        <p:nvSpPr>
          <p:cNvPr id="62" name="Google Shape;62;p13"/>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 name="Google Shape;63;p13">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64" name="Google Shape;64;p13">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66" name="Google Shape;66;p13"/>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9"/>
              </a:rPr>
              <a:t>{{AGENT_PHONE}}</a:t>
            </a:r>
            <a:r>
              <a:rPr lang="en" sz="1300">
                <a:solidFill>
                  <a:srgbClr val="000000"/>
                </a:solidFill>
              </a:rPr>
              <a:t>  </a:t>
            </a:r>
            <a:r>
              <a:rPr lang="en" sz="1300" u="sng">
                <a:solidFill>
                  <a:srgbClr val="C4521A"/>
                </a:solidFill>
                <a:hlinkClick r:id="rId4"/>
              </a:rPr>
              <a:t>{{AGENT_EMAIL}}</a:t>
            </a:r>
            <a:endParaRPr sz="1000">
              <a:solidFill>
                <a:srgbClr val="000000"/>
              </a:solidFill>
            </a:endParaRPr>
          </a:p>
        </p:txBody>
      </p:sp>
      <p:sp>
        <p:nvSpPr>
          <p:cNvPr id="67" name="TextBox 66"/>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AT A GLANCE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8"/>
              </a:rPr>
              <a:t>{{AGENT_PHONE}}</a:t>
            </a:r>
            <a:r>
              <a:rPr lang="en" sz="1300">
                <a:solidFill>
                  <a:srgbClr val="000000"/>
                </a:solidFill>
              </a:rPr>
              <a:t>  </a:t>
            </a:r>
            <a:r>
              <a:rPr lang="en" sz="1300" u="sng">
                <a:solidFill>
                  <a:srgbClr val="C4521A"/>
                </a:solidFill>
                <a:hlinkClick r:id="rId2"/>
              </a:rPr>
              <a:t>{{AGENT_EMAIL}}</a:t>
            </a:r>
            <a:endParaRPr sz="1000">
              <a:solidFill>
                <a:srgbClr val="000000"/>
              </a:solidFill>
            </a:endParaRPr>
          </a:p>
        </p:txBody>
      </p:sp>
      <p:sp>
        <p:nvSpPr>
          <p:cNvPr id="173" name="Rounded Rectangle 172"/>
          <p:cNvSpPr/>
          <p:nvPr/>
        </p:nvSpPr>
        <p:spPr>
          <a:xfrm>
            <a:off x="152175" y="980000"/>
            <a:ext cx="2310275" cy="880000"/>
          </a:xfrm>
          <a:prstGeom prst="roundRect">
            <a:avLst>
              <a:gd name="adj" fmla="val 8000"/>
            </a:avLst>
          </a:prstGeom>
          <a:solidFill>
            <a:srgbClr val="1717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Calibri"/>
              </a:rPr>
              <a:t>{{PRICE}}</a:t>
            </a:r>
          </a:p>
          <a:p>
            <a:pPr algn="ctr">
              <a:spcBef>
                <a:spcPts val="200"/>
              </a:spcBef>
            </a:pPr>
            <a:r>
              <a:rPr sz="1100" b="1" i="0">
                <a:solidFill>
                  <a:srgbClr val="FFFFFF"/>
                </a:solidFill>
                <a:latin typeface="Calibri"/>
              </a:rPr>
              <a:t>Asking Price</a:t>
            </a:r>
          </a:p>
        </p:txBody>
      </p:sp>
      <p:sp>
        <p:nvSpPr>
          <p:cNvPr id="174" name="Rounded Rectangle 173"/>
          <p:cNvSpPr/>
          <p:nvPr/>
        </p:nvSpPr>
        <p:spPr>
          <a:xfrm>
            <a:off x="2582450" y="980000"/>
            <a:ext cx="2310275" cy="88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171715"/>
                </a:solidFill>
                <a:latin typeface="Calibri"/>
              </a:rPr>
              <a:t>{{SIZE}}</a:t>
            </a:r>
          </a:p>
          <a:p>
            <a:pPr algn="ctr">
              <a:spcBef>
                <a:spcPts val="200"/>
              </a:spcBef>
            </a:pPr>
            <a:r>
              <a:rPr sz="1100" b="1" i="0">
                <a:solidFill>
                  <a:srgbClr val="222222"/>
                </a:solidFill>
                <a:latin typeface="Calibri"/>
              </a:rPr>
              <a:t>{{SIZE_LABEL}}</a:t>
            </a:r>
          </a:p>
        </p:txBody>
      </p:sp>
      <p:sp>
        <p:nvSpPr>
          <p:cNvPr id="175" name="Rounded Rectangle 174"/>
          <p:cNvSpPr/>
          <p:nvPr/>
        </p:nvSpPr>
        <p:spPr>
          <a:xfrm>
            <a:off x="5012725" y="980000"/>
            <a:ext cx="2310275" cy="88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171715"/>
                </a:solidFill>
                <a:latin typeface="Calibri"/>
              </a:rPr>
              <a:t>{{PPU}}</a:t>
            </a:r>
          </a:p>
          <a:p>
            <a:pPr algn="ctr">
              <a:spcBef>
                <a:spcPts val="200"/>
              </a:spcBef>
            </a:pPr>
            <a:r>
              <a:rPr sz="1100" b="1" i="0">
                <a:solidFill>
                  <a:srgbClr val="222222"/>
                </a:solidFill>
                <a:latin typeface="Calibri"/>
              </a:rPr>
              <a:t>{{PPU_LABEL}}</a:t>
            </a:r>
          </a:p>
        </p:txBody>
      </p:sp>
      <p:sp>
        <p:nvSpPr>
          <p:cNvPr id="176" name="Rounded Rectangle 175"/>
          <p:cNvSpPr/>
          <p:nvPr/>
        </p:nvSpPr>
        <p:spPr>
          <a:xfrm>
            <a:off x="7443000" y="980000"/>
            <a:ext cx="2310275" cy="88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171715"/>
                </a:solidFill>
                <a:latin typeface="Calibri"/>
              </a:rPr>
              <a:t>{{ZONING}}</a:t>
            </a:r>
          </a:p>
          <a:p>
            <a:pPr algn="ctr">
              <a:spcBef>
                <a:spcPts val="200"/>
              </a:spcBef>
            </a:pPr>
            <a:r>
              <a:rPr sz="1100" b="1" i="0">
                <a:solidFill>
                  <a:srgbClr val="222222"/>
                </a:solidFill>
                <a:latin typeface="Calibri"/>
              </a:rPr>
              <a:t>Zoning</a:t>
            </a:r>
          </a:p>
        </p:txBody>
      </p:sp>
      <p:sp>
        <p:nvSpPr>
          <p:cNvPr id="177" name="Rounded Rectangle 176"/>
          <p:cNvSpPr/>
          <p:nvPr/>
        </p:nvSpPr>
        <p:spPr>
          <a:xfrm>
            <a:off x="152175" y="1980000"/>
            <a:ext cx="2310275" cy="88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171715"/>
                </a:solidFill>
                <a:latin typeface="Calibri"/>
              </a:rPr>
              <a:t>{{STAT_5}}</a:t>
            </a:r>
          </a:p>
          <a:p>
            <a:pPr algn="ctr">
              <a:spcBef>
                <a:spcPts val="200"/>
              </a:spcBef>
            </a:pPr>
            <a:r>
              <a:rPr sz="1100" b="1" i="0">
                <a:solidFill>
                  <a:srgbClr val="222222"/>
                </a:solidFill>
                <a:latin typeface="Calibri"/>
              </a:rPr>
              <a:t>{{STAT_5_LABEL}}</a:t>
            </a:r>
          </a:p>
        </p:txBody>
      </p:sp>
      <p:sp>
        <p:nvSpPr>
          <p:cNvPr id="178" name="Rounded Rectangle 177"/>
          <p:cNvSpPr/>
          <p:nvPr/>
        </p:nvSpPr>
        <p:spPr>
          <a:xfrm>
            <a:off x="2582450" y="1980000"/>
            <a:ext cx="2310275" cy="88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171715"/>
                </a:solidFill>
                <a:latin typeface="Calibri"/>
              </a:rPr>
              <a:t>{{STAT_6}}</a:t>
            </a:r>
          </a:p>
          <a:p>
            <a:pPr algn="ctr">
              <a:spcBef>
                <a:spcPts val="200"/>
              </a:spcBef>
            </a:pPr>
            <a:r>
              <a:rPr sz="1100" b="1" i="0">
                <a:solidFill>
                  <a:srgbClr val="222222"/>
                </a:solidFill>
                <a:latin typeface="Calibri"/>
              </a:rPr>
              <a:t>{{STAT_6_LABEL}}</a:t>
            </a:r>
          </a:p>
        </p:txBody>
      </p:sp>
      <p:sp>
        <p:nvSpPr>
          <p:cNvPr id="179" name="Rounded Rectangle 178"/>
          <p:cNvSpPr/>
          <p:nvPr/>
        </p:nvSpPr>
        <p:spPr>
          <a:xfrm>
            <a:off x="5012725" y="1980000"/>
            <a:ext cx="2310275" cy="88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171715"/>
                </a:solidFill>
                <a:latin typeface="Calibri"/>
              </a:rPr>
              <a:t>{{STAT_7}}</a:t>
            </a:r>
          </a:p>
          <a:p>
            <a:pPr algn="ctr">
              <a:spcBef>
                <a:spcPts val="200"/>
              </a:spcBef>
            </a:pPr>
            <a:r>
              <a:rPr sz="1100" b="1" i="0">
                <a:solidFill>
                  <a:srgbClr val="222222"/>
                </a:solidFill>
                <a:latin typeface="Calibri"/>
              </a:rPr>
              <a:t>{{STAT_7_LABEL}}</a:t>
            </a:r>
          </a:p>
        </p:txBody>
      </p:sp>
      <p:sp>
        <p:nvSpPr>
          <p:cNvPr id="180" name="Rounded Rectangle 179"/>
          <p:cNvSpPr/>
          <p:nvPr/>
        </p:nvSpPr>
        <p:spPr>
          <a:xfrm>
            <a:off x="7443000" y="1980000"/>
            <a:ext cx="2310275" cy="88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171715"/>
                </a:solidFill>
                <a:latin typeface="Calibri"/>
              </a:rPr>
              <a:t>{{STAT_8}}</a:t>
            </a:r>
          </a:p>
          <a:p>
            <a:pPr algn="ctr">
              <a:spcBef>
                <a:spcPts val="200"/>
              </a:spcBef>
            </a:pPr>
            <a:r>
              <a:rPr sz="1100" b="1" i="0">
                <a:solidFill>
                  <a:srgbClr val="222222"/>
                </a:solidFill>
                <a:latin typeface="Calibri"/>
              </a:rPr>
              <a:t>{{STAT_8_LABEL}}</a:t>
            </a:r>
          </a:p>
        </p:txBody>
      </p:sp>
      <p:sp>
        <p:nvSpPr>
          <p:cNvPr id="181" name="TextBox 180"/>
          <p:cNvSpPr txBox="1"/>
          <p:nvPr/>
        </p:nvSpPr>
        <p:spPr>
          <a:xfrm>
            <a:off x="152175" y="3020000"/>
            <a:ext cx="9601102" cy="380000"/>
          </a:xfrm>
          <a:prstGeom prst="rect">
            <a:avLst/>
          </a:prstGeom>
          <a:noFill/>
        </p:spPr>
        <p:txBody>
          <a:bodyPr wrap="square" anchor="t">
            <a:spAutoFit/>
          </a:bodyPr>
          <a:lstStyle/>
          <a:p>
            <a:pPr algn="l"/>
            <a:r>
              <a:rPr sz="1600" b="1" i="0">
                <a:solidFill>
                  <a:srgbClr val="171715"/>
                </a:solidFill>
                <a:latin typeface="Calibri"/>
              </a:rPr>
              <a:t>The Opportunity</a:t>
            </a:r>
          </a:p>
        </p:txBody>
      </p:sp>
      <p:sp>
        <p:nvSpPr>
          <p:cNvPr id="182" name="TextBox 181"/>
          <p:cNvSpPr txBox="1"/>
          <p:nvPr/>
        </p:nvSpPr>
        <p:spPr>
          <a:xfrm>
            <a:off x="152175" y="3400000"/>
            <a:ext cx="9601102" cy="3000000"/>
          </a:xfrm>
          <a:prstGeom prst="rect">
            <a:avLst/>
          </a:prstGeom>
          <a:noFill/>
        </p:spPr>
        <p:txBody>
          <a:bodyPr wrap="square" anchor="t">
            <a:spAutoFit/>
          </a:bodyPr>
          <a:lstStyle/>
          <a:p>
            <a:pPr algn="l"/>
            <a:r>
              <a:rPr sz="1300" b="0" i="0">
                <a:solidFill>
                  <a:srgbClr val="222222"/>
                </a:solidFill>
                <a:latin typeface="Calibri"/>
              </a:rPr>
              <a:t>{{OPPORTUNITY}}  One full paragraph: who owns it and why it is for sale, what is on the site, access and traffic, nearby employers and what kinds of buyers it suits.</a:t>
            </a:r>
          </a:p>
        </p:txBody>
      </p:sp>
      <p:sp>
        <p:nvSpPr>
          <p:cNvPr id="183" name="TextBox 182"/>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72" name="Google Shape;72;p1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HIGHLIGHTS</a:t>
            </a:r>
            <a:endParaRPr lang="en-US" sz="2600" b="1">
              <a:solidFill>
                <a:srgbClr val="FFFFFF"/>
              </a:solidFill>
              <a:latin typeface="Calibri"/>
              <a:cs typeface="Calibri"/>
            </a:endParaRPr>
          </a:p>
        </p:txBody>
      </p:sp>
      <p:sp>
        <p:nvSpPr>
          <p:cNvPr id="73" name="Google Shape;73;p14"/>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4"/>
          <p:cNvPicPr preferRelativeResize="0"/>
          <p:nvPr/>
        </p:nvPicPr>
        <p:blipFill rotWithShape="1">
          <a:blip r:embed="rId10">
            <a:alphaModFix/>
          </a:blip>
          <a:stretch/>
        </p:blipFill>
        <p:spPr>
          <a:xfrm>
            <a:off x="3650000" y="1150000"/>
            <a:ext cx="6200000" cy="3932700"/>
          </a:xfrm>
          <a:prstGeom prst="rect">
            <a:avLst/>
          </a:prstGeom>
          <a:noFill/>
          <a:ln>
            <a:noFill/>
          </a:ln>
        </p:spPr>
      </p:pic>
      <p:sp>
        <p:nvSpPr>
          <p:cNvPr id="75" name="Google Shape;75;p14"/>
          <p:cNvSpPr txBox="1"/>
          <p:nvPr/>
        </p:nvSpPr>
        <p:spPr>
          <a:xfrm>
            <a:off x="250000" y="1100000"/>
            <a:ext cx="3300000" cy="5400000"/>
          </a:xfrm>
          <a:prstGeom prst="rect">
            <a:avLst/>
          </a:prstGeom>
          <a:noFill/>
          <a:ln>
            <a:noFill/>
          </a:ln>
        </p:spPr>
        <p:txBody>
          <a:bodyPr anchorCtr="0" anchor="t" bIns="91425" lIns="91425" rIns="91425" tIns="91425" spcFirstLastPara="1" wrap="square">
            <a:spAutoFit/>
          </a:bodyPr>
          <a:lstStyle/>
          <a:p>
            <a:pPr marL="0" indent="0" algn="l">
              <a:lnSpc>
                <a:spcPct val="100000"/>
              </a:lnSpc>
              <a:spcBef>
                <a:spcPts val="0"/>
              </a:spcBef>
              <a:spcAft>
                <a:spcPts val="4"/>
              </a:spcAft>
              <a:buNone/>
            </a:pPr>
            <a:r>
              <a:rPr lang="en-US" sz="1400" b="1">
                <a:solidFill>
                  <a:srgbClr val="171715"/>
                </a:solidFill>
                <a:latin typeface="Calibri"/>
                <a:cs typeface="Calibri"/>
              </a:rPr>
              <a:t>PROPERTY HIGHLIGHTS</a:t>
            </a:r>
            <a:endParaRPr lang="en-US" sz="1400" b="1">
              <a:solidFill>
                <a:srgbClr val="171715"/>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{{HIGHLIGHT_6}}</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{{HIGHLIGHT_7}}</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{{HIGHLIGHT_8}}</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{{HIGHLIGHT_9}}</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{{HIGHLIGHT_10}}</a:t>
            </a:r>
            <a:endParaRPr lang="en-US" sz="1200" b="0">
              <a:solidFill>
                <a:srgbClr val="222222"/>
              </a:solidFill>
              <a:latin typeface="Calibri"/>
              <a:cs typeface="Calibri"/>
            </a:endParaRPr>
          </a:p>
          <a:p>
            <a:pPr marL="0" indent="0" algn="l">
              <a:lnSpc>
                <a:spcPct val="100000"/>
              </a:lnSpc>
              <a:spcBef>
                <a:spcPts val="0"/>
              </a:spcBef>
              <a:spcAft>
                <a:spcPts val="0"/>
              </a:spcAft>
              <a:buNone/>
            </a:pPr>
            <a:r>
              <a:rPr lang="en-US" sz="800" b="0">
                <a:solidFill>
                  <a:srgbClr val="222222"/>
                </a:solidFill>
                <a:latin typeface="Calibri"/>
                <a:cs typeface="Calibri"/>
              </a:rPr>
              <a:t> </a:t>
            </a:r>
            <a:endParaRPr lang="en-US" sz="800" b="0">
              <a:solidFill>
                <a:srgbClr val="222222"/>
              </a:solidFill>
              <a:latin typeface="Calibri"/>
              <a:cs typeface="Calibri"/>
            </a:endParaRPr>
          </a:p>
          <a:p>
            <a:pPr marL="0" indent="0" algn="l">
              <a:lnSpc>
                <a:spcPct val="100000"/>
              </a:lnSpc>
              <a:spcBef>
                <a:spcPts val="0"/>
              </a:spcBef>
              <a:spcAft>
                <a:spcPts val="4"/>
              </a:spcAft>
              <a:buNone/>
            </a:pPr>
            <a:r>
              <a:rPr lang="en-US" sz="1400" b="1">
                <a:solidFill>
                  <a:srgbClr val="171715"/>
                </a:solidFill>
                <a:latin typeface="Calibri"/>
                <a:cs typeface="Calibri"/>
              </a:rPr>
              <a:t>LOCATION HIGHLIGHTS</a:t>
            </a:r>
            <a:endParaRPr lang="en-US" sz="1400" b="1">
              <a:solidFill>
                <a:srgbClr val="171715"/>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{{LOCATION_1}}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{{LOCATION_2}}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{{LOCATION_3}}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{{LOCATION_4}}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{{LOCATION_5}}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ED6B26"/>
              </a:buClr>
              <a:buSzPct val="100000"/>
              <a:buFont typeface="Calibri"/>
              <a:buChar char="•"/>
            </a:pPr>
            <a:r>
              <a:rPr lang="en-US" sz="1200" b="0">
                <a:solidFill>
                  <a:srgbClr val="222222"/>
                </a:solidFill>
                <a:latin typeface="Calibri"/>
                <a:cs typeface="Calibri"/>
              </a:rPr>
              <a:t>{{LOCATION_6}}</a:t>
            </a:r>
            <a:endParaRPr lang="en-US" sz="1200" b="0">
              <a:solidFill>
                <a:srgbClr val="222222"/>
              </a:solidFill>
              <a:latin typeface="Calibri"/>
              <a:cs typeface="Calibri"/>
            </a:endParaRPr>
          </a:p>
        </p:txBody>
      </p:sp>
      <p:pic>
        <p:nvPicPr>
          <p:cNvPr id="76" name="Google Shape;76;p14">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77" name="Google Shape;77;p14">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79" name="Google Shape;79;p14"/>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9"/>
              </a:rPr>
              <a:t>{{AGENT_PHONE}}</a:t>
            </a:r>
            <a:r>
              <a:rPr lang="en" sz="1300">
                <a:solidFill>
                  <a:srgbClr val="000000"/>
                </a:solidFill>
              </a:rPr>
              <a:t>  </a:t>
            </a:r>
            <a:r>
              <a:rPr lang="en" sz="1300" u="sng">
                <a:solidFill>
                  <a:srgbClr val="C4521A"/>
                </a:solidFill>
                <a:hlinkClick r:id="rId4"/>
              </a:rPr>
              <a:t>{{AGENT_EMAIL}}</a:t>
            </a:r>
            <a:endParaRPr sz="1000">
              <a:solidFill>
                <a:srgbClr val="000000"/>
              </a:solidFill>
            </a:endParaRPr>
          </a:p>
        </p:txBody>
      </p:sp>
      <p:sp>
        <p:nvSpPr>
          <p:cNvPr id="80" name="TextBox 79"/>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HIGHEST &amp; BEST USE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8"/>
              </a:rPr>
              <a:t>{{AGENT_PHONE}}</a:t>
            </a:r>
            <a:r>
              <a:rPr lang="en" sz="1300">
                <a:solidFill>
                  <a:srgbClr val="000000"/>
                </a:solidFill>
              </a:rPr>
              <a:t>  </a:t>
            </a:r>
            <a:r>
              <a:rPr lang="en" sz="1300" u="sng">
                <a:solidFill>
                  <a:srgbClr val="C4521A"/>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171715"/>
                </a:solidFill>
                <a:latin typeface="Calibri"/>
              </a:rPr>
              <a:t>What the site is best suited for</a:t>
            </a:r>
          </a:p>
        </p:txBody>
      </p:sp>
      <p:sp>
        <p:nvSpPr>
          <p:cNvPr id="174" name="Rounded Rectangle 173"/>
          <p:cNvSpPr/>
          <p:nvPr/>
        </p:nvSpPr>
        <p:spPr>
          <a:xfrm>
            <a:off x="152175" y="1400000"/>
            <a:ext cx="3100367" cy="20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C4521A"/>
                </a:solidFill>
                <a:latin typeface="Calibri"/>
              </a:rPr>
              <a:t>PRIMARY USE</a:t>
            </a:r>
          </a:p>
          <a:p>
            <a:pPr algn="l"/>
            <a:r>
              <a:rPr sz="1500" b="1" i="0">
                <a:solidFill>
                  <a:srgbClr val="171715"/>
                </a:solidFill>
                <a:latin typeface="Calibri"/>
              </a:rPr>
              <a:t>{{USE_1_TITLE}}</a:t>
            </a:r>
          </a:p>
          <a:p>
            <a:pPr algn="l">
              <a:spcBef>
                <a:spcPts val="600"/>
              </a:spcBef>
            </a:pPr>
            <a:r>
              <a:rPr sz="1100" b="0" i="0">
                <a:solidFill>
                  <a:srgbClr val="222222"/>
                </a:solidFill>
                <a:latin typeface="Calibri"/>
              </a:rPr>
              <a:t>{{USE_1_TEXT}}  Why this use fits: traffic, nearby users, growth, the site itself.</a:t>
            </a:r>
          </a:p>
        </p:txBody>
      </p:sp>
      <p:sp>
        <p:nvSpPr>
          <p:cNvPr id="175" name="Rounded Rectangle 174"/>
          <p:cNvSpPr/>
          <p:nvPr/>
        </p:nvSpPr>
        <p:spPr>
          <a:xfrm>
            <a:off x="3402542" y="1400000"/>
            <a:ext cx="3100367" cy="20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C4521A"/>
                </a:solidFill>
                <a:latin typeface="Calibri"/>
              </a:rPr>
              <a:t>SECONDARY USE</a:t>
            </a:r>
          </a:p>
          <a:p>
            <a:pPr algn="l"/>
            <a:r>
              <a:rPr sz="1500" b="1" i="0">
                <a:solidFill>
                  <a:srgbClr val="171715"/>
                </a:solidFill>
                <a:latin typeface="Calibri"/>
              </a:rPr>
              <a:t>{{USE_2_TITLE}}</a:t>
            </a:r>
          </a:p>
          <a:p>
            <a:pPr algn="l">
              <a:spcBef>
                <a:spcPts val="600"/>
              </a:spcBef>
            </a:pPr>
            <a:r>
              <a:rPr sz="1100" b="0" i="0">
                <a:solidFill>
                  <a:srgbClr val="222222"/>
                </a:solidFill>
                <a:latin typeface="Calibri"/>
              </a:rPr>
              <a:t>{{USE_2_TEXT}}  Why this use fits: traffic, nearby users, growth, the site itself.</a:t>
            </a:r>
          </a:p>
        </p:txBody>
      </p:sp>
      <p:sp>
        <p:nvSpPr>
          <p:cNvPr id="176" name="Rounded Rectangle 175"/>
          <p:cNvSpPr/>
          <p:nvPr/>
        </p:nvSpPr>
        <p:spPr>
          <a:xfrm>
            <a:off x="6652909" y="1400000"/>
            <a:ext cx="3100367" cy="20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C4521A"/>
                </a:solidFill>
                <a:latin typeface="Calibri"/>
              </a:rPr>
              <a:t>VALUE ADD</a:t>
            </a:r>
          </a:p>
          <a:p>
            <a:pPr algn="l"/>
            <a:r>
              <a:rPr sz="1500" b="1" i="0">
                <a:solidFill>
                  <a:srgbClr val="171715"/>
                </a:solidFill>
                <a:latin typeface="Calibri"/>
              </a:rPr>
              <a:t>{{USE_3_TITLE}}</a:t>
            </a:r>
          </a:p>
          <a:p>
            <a:pPr algn="l">
              <a:spcBef>
                <a:spcPts val="600"/>
              </a:spcBef>
            </a:pPr>
            <a:r>
              <a:rPr sz="1100" b="0" i="0">
                <a:solidFill>
                  <a:srgbClr val="222222"/>
                </a:solidFill>
                <a:latin typeface="Calibri"/>
              </a:rPr>
              <a:t>{{USE_3_TEXT}}  Why this use fits: traffic, nearby users, growth, the site itself.</a:t>
            </a:r>
          </a:p>
        </p:txBody>
      </p:sp>
      <p:sp>
        <p:nvSpPr>
          <p:cNvPr id="177" name="TextBox 176"/>
          <p:cNvSpPr txBox="1"/>
          <p:nvPr/>
        </p:nvSpPr>
        <p:spPr>
          <a:xfrm>
            <a:off x="152175" y="3600000"/>
            <a:ext cx="9601102" cy="380000"/>
          </a:xfrm>
          <a:prstGeom prst="rect">
            <a:avLst/>
          </a:prstGeom>
          <a:noFill/>
        </p:spPr>
        <p:txBody>
          <a:bodyPr wrap="square" anchor="t">
            <a:spAutoFit/>
          </a:bodyPr>
          <a:lstStyle/>
          <a:p>
            <a:pPr algn="l"/>
            <a:r>
              <a:rPr sz="1600" b="1" i="0">
                <a:solidFill>
                  <a:srgbClr val="171715"/>
                </a:solidFill>
                <a:latin typeface="Calibri"/>
              </a:rPr>
              <a:t>What a buyer will need to plan for</a:t>
            </a:r>
          </a:p>
        </p:txBody>
      </p:sp>
      <p:sp>
        <p:nvSpPr>
          <p:cNvPr id="178" name="TextBox 177"/>
          <p:cNvSpPr txBox="1"/>
          <p:nvPr/>
        </p:nvSpPr>
        <p:spPr>
          <a:xfrm>
            <a:off x="152175" y="3980000"/>
            <a:ext cx="9601102" cy="2100000"/>
          </a:xfrm>
          <a:prstGeom prst="rect">
            <a:avLst/>
          </a:prstGeom>
          <a:noFill/>
        </p:spPr>
        <p:txBody>
          <a:bodyPr wrap="square" anchor="t">
            <a:spAutoFit/>
          </a:bodyPr>
          <a:lstStyle/>
          <a:p>
            <a:pPr algn="l" marL="228600" indent="-228600">
              <a:spcBef>
                <a:spcPts val="0"/>
              </a:spcBef>
              <a:buClr>
                <a:srgbClr val="ED6B26"/>
              </a:buClr>
              <a:buChar char="•"/>
            </a:pPr>
            <a:r>
              <a:rPr sz="1200" b="0" i="0">
                <a:solidFill>
                  <a:srgbClr val="222222"/>
                </a:solidFill>
                <a:latin typeface="Calibri"/>
              </a:rPr>
              <a:t>{{CONSIDERATION_1}}</a:t>
            </a:r>
          </a:p>
          <a:p>
            <a:pPr algn="l" marL="228600" indent="-228600">
              <a:spcBef>
                <a:spcPts val="600"/>
              </a:spcBef>
              <a:buClr>
                <a:srgbClr val="ED6B26"/>
              </a:buClr>
              <a:buChar char="•"/>
            </a:pPr>
            <a:r>
              <a:rPr sz="1200" b="0" i="0">
                <a:solidFill>
                  <a:srgbClr val="222222"/>
                </a:solidFill>
                <a:latin typeface="Calibri"/>
              </a:rPr>
              <a:t>{{CONSIDERATION_2}}</a:t>
            </a:r>
          </a:p>
          <a:p>
            <a:pPr algn="l" marL="228600" indent="-228600">
              <a:spcBef>
                <a:spcPts val="600"/>
              </a:spcBef>
              <a:buClr>
                <a:srgbClr val="ED6B26"/>
              </a:buClr>
              <a:buChar char="•"/>
            </a:pPr>
            <a:r>
              <a:rPr sz="1200" b="0" i="0">
                <a:solidFill>
                  <a:srgbClr val="222222"/>
                </a:solidFill>
                <a:latin typeface="Calibri"/>
              </a:rPr>
              <a:t>{{CONSIDERATION_3}}</a:t>
            </a:r>
          </a:p>
          <a:p>
            <a:pPr algn="l" marL="228600" indent="-228600">
              <a:spcBef>
                <a:spcPts val="600"/>
              </a:spcBef>
              <a:buClr>
                <a:srgbClr val="ED6B26"/>
              </a:buClr>
              <a:buChar char="•"/>
            </a:pPr>
            <a:r>
              <a:rPr sz="1200" b="0" i="0">
                <a:solidFill>
                  <a:srgbClr val="222222"/>
                </a:solidFill>
                <a:latin typeface="Calibri"/>
              </a:rPr>
              <a:t>{{CONSIDERATION_4}}</a:t>
            </a:r>
          </a:p>
        </p:txBody>
      </p:sp>
      <p:sp>
        <p:nvSpPr>
          <p:cNvPr id="179" name="TextBox 178"/>
          <p:cNvSpPr txBox="1"/>
          <p:nvPr/>
        </p:nvSpPr>
        <p:spPr>
          <a:xfrm>
            <a:off x="152175" y="6200000"/>
            <a:ext cx="9601102" cy="300000"/>
          </a:xfrm>
          <a:prstGeom prst="rect">
            <a:avLst/>
          </a:prstGeom>
          <a:noFill/>
        </p:spPr>
        <p:txBody>
          <a:bodyPr wrap="square" anchor="t">
            <a:spAutoFit/>
          </a:bodyPr>
          <a:lstStyle/>
          <a:p>
            <a:pPr algn="l"/>
            <a:r>
              <a:rPr sz="900" b="0" i="0">
                <a:solidFill>
                  <a:srgbClr val="5A5A5A"/>
                </a:solidFill>
                <a:latin typeface="Calibri"/>
              </a:rPr>
              <a:t>Broker's opinion of potential uses based on available information. Not a zoning, engineering or appraisal determination.</a:t>
            </a:r>
          </a:p>
        </p:txBody>
      </p:sp>
      <p:sp>
        <p:nvSpPr>
          <p:cNvPr id="180" name="TextBox 179"/>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86" name="Google Shape;86;p15"/>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88" name="Google Shape;88;p15"/>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 name="Google Shape;91;p15"/>
          <p:cNvPicPr preferRelativeResize="0"/>
          <p:nvPr/>
        </p:nvPicPr>
        <p:blipFill rotWithShape="1">
          <a:blip r:embed="rId19">
            <a:alphaModFix/>
          </a:blip>
          <a:stretch/>
        </p:blipFill>
        <p:spPr>
          <a:xfrm>
            <a:off x="117250" y="3735300"/>
            <a:ext cx="3238723" cy="2804825"/>
          </a:xfrm>
          <a:prstGeom prst="rect">
            <a:avLst/>
          </a:prstGeom>
          <a:noFill/>
          <a:ln>
            <a:noFill/>
          </a:ln>
        </p:spPr>
      </p:pic>
      <p:pic>
        <p:nvPicPr>
          <p:cNvPr id="92" name="Google Shape;92;p15"/>
          <p:cNvPicPr preferRelativeResize="0"/>
          <p:nvPr/>
        </p:nvPicPr>
        <p:blipFill rotWithShape="1">
          <a:blip r:embed="rId21">
            <a:alphaModFix/>
          </a:blip>
          <a:stretch/>
        </p:blipFill>
        <p:spPr>
          <a:xfrm>
            <a:off x="6685600" y="3751175"/>
            <a:ext cx="3238725" cy="2804823"/>
          </a:xfrm>
          <a:prstGeom prst="rect">
            <a:avLst/>
          </a:prstGeom>
          <a:noFill/>
          <a:ln>
            <a:noFill/>
          </a:ln>
        </p:spPr>
      </p:pic>
      <p:pic>
        <p:nvPicPr>
          <p:cNvPr id="93" name="Google Shape;93;p15"/>
          <p:cNvPicPr preferRelativeResize="0"/>
          <p:nvPr/>
        </p:nvPicPr>
        <p:blipFill rotWithShape="1">
          <a:blip r:embed="rId15">
            <a:alphaModFix/>
          </a:blip>
          <a:stretch/>
        </p:blipFill>
        <p:spPr>
          <a:xfrm>
            <a:off x="109000" y="903100"/>
            <a:ext cx="3238721" cy="2804823"/>
          </a:xfrm>
          <a:prstGeom prst="rect">
            <a:avLst/>
          </a:prstGeom>
          <a:noFill/>
          <a:ln>
            <a:noFill/>
          </a:ln>
        </p:spPr>
      </p:pic>
      <p:pic>
        <p:nvPicPr>
          <p:cNvPr id="94" name="Google Shape;94;p15"/>
          <p:cNvPicPr preferRelativeResize="0"/>
          <p:nvPr/>
        </p:nvPicPr>
        <p:blipFill rotWithShape="1">
          <a:blip r:embed="rId20">
            <a:alphaModFix/>
          </a:blip>
          <a:stretch/>
        </p:blipFill>
        <p:spPr>
          <a:xfrm>
            <a:off x="3382325" y="3719300"/>
            <a:ext cx="3276925" cy="2804823"/>
          </a:xfrm>
          <a:prstGeom prst="rect">
            <a:avLst/>
          </a:prstGeom>
          <a:noFill/>
          <a:ln>
            <a:noFill/>
          </a:ln>
        </p:spPr>
      </p:pic>
      <p:pic>
        <p:nvPicPr>
          <p:cNvPr id="95" name="Google Shape;95;p15"/>
          <p:cNvPicPr preferRelativeResize="0"/>
          <p:nvPr/>
        </p:nvPicPr>
        <p:blipFill rotWithShape="1">
          <a:blip r:embed="rId18">
            <a:alphaModFix/>
          </a:blip>
          <a:stretch/>
        </p:blipFill>
        <p:spPr>
          <a:xfrm>
            <a:off x="6693850" y="902087"/>
            <a:ext cx="3238725" cy="2778952"/>
          </a:xfrm>
          <a:prstGeom prst="rect">
            <a:avLst/>
          </a:prstGeom>
          <a:noFill/>
          <a:ln>
            <a:noFill/>
          </a:ln>
        </p:spPr>
      </p:pic>
      <p:pic>
        <p:nvPicPr>
          <p:cNvPr id="96" name="Google Shape;96;p15"/>
          <p:cNvPicPr preferRelativeResize="0"/>
          <p:nvPr/>
        </p:nvPicPr>
        <p:blipFill rotWithShape="1">
          <a:blip r:embed="rId14">
            <a:alphaModFix/>
          </a:blip>
          <a:stretch/>
        </p:blipFill>
        <p:spPr>
          <a:xfrm>
            <a:off x="3382325" y="896975"/>
            <a:ext cx="3276925" cy="2778953"/>
          </a:xfrm>
          <a:prstGeom prst="rect">
            <a:avLst/>
          </a:prstGeom>
          <a:noFill/>
          <a:ln>
            <a:noFill/>
          </a:ln>
        </p:spPr>
      </p:pic>
      <p:pic>
        <p:nvPicPr>
          <p:cNvPr id="97" name="Google Shape;97;p15">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98" name="Google Shape;98;p15">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99" name="Google Shape;99;p15"/>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9"/>
              </a:rPr>
              <a:t>{{AGENT_PHONE}}</a:t>
            </a:r>
            <a:r>
              <a:rPr lang="en" sz="1300">
                <a:solidFill>
                  <a:srgbClr val="000000"/>
                </a:solidFill>
              </a:rPr>
              <a:t>  </a:t>
            </a:r>
            <a:r>
              <a:rPr lang="en" sz="1300" u="sng">
                <a:solidFill>
                  <a:srgbClr val="C4521A"/>
                </a:solidFill>
                <a:hlinkClick r:id="rId8"/>
              </a:rPr>
              <a:t>{{AGENT_EMAIL}}</a:t>
            </a:r>
            <a:endParaRPr sz="1000">
              <a:solidFill>
                <a:srgbClr val="000000"/>
              </a:solidFill>
            </a:endParaRPr>
          </a:p>
        </p:txBody>
      </p:sp>
      <p:sp>
        <p:nvSpPr>
          <p:cNvPr id="102" name="TextBox 101"/>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107" name="Google Shape;107;p16"/>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109" name="Google Shape;109;p16"/>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16"/>
          <p:cNvPicPr preferRelativeResize="0"/>
          <p:nvPr/>
        </p:nvPicPr>
        <p:blipFill rotWithShape="1">
          <a:blip r:embed="rId20">
            <a:alphaModFix/>
          </a:blip>
          <a:stretch/>
        </p:blipFill>
        <p:spPr>
          <a:xfrm>
            <a:off x="3409450" y="3740950"/>
            <a:ext cx="3238721" cy="2804823"/>
          </a:xfrm>
          <a:prstGeom prst="rect">
            <a:avLst/>
          </a:prstGeom>
          <a:noFill/>
          <a:ln>
            <a:noFill/>
          </a:ln>
        </p:spPr>
      </p:pic>
      <p:pic>
        <p:nvPicPr>
          <p:cNvPr id="113" name="Google Shape;113;p16"/>
          <p:cNvPicPr preferRelativeResize="0"/>
          <p:nvPr/>
        </p:nvPicPr>
        <p:blipFill rotWithShape="1">
          <a:blip r:embed="rId15">
            <a:alphaModFix/>
          </a:blip>
          <a:stretch/>
        </p:blipFill>
        <p:spPr>
          <a:xfrm>
            <a:off x="99725" y="891725"/>
            <a:ext cx="3238725" cy="2804823"/>
          </a:xfrm>
          <a:prstGeom prst="rect">
            <a:avLst/>
          </a:prstGeom>
          <a:noFill/>
          <a:ln>
            <a:noFill/>
          </a:ln>
        </p:spPr>
      </p:pic>
      <p:pic>
        <p:nvPicPr>
          <p:cNvPr id="114" name="Google Shape;114;p16"/>
          <p:cNvPicPr preferRelativeResize="0"/>
          <p:nvPr/>
        </p:nvPicPr>
        <p:blipFill rotWithShape="1">
          <a:blip r:embed="rId14">
            <a:alphaModFix/>
          </a:blip>
          <a:stretch/>
        </p:blipFill>
        <p:spPr>
          <a:xfrm>
            <a:off x="3396788" y="884038"/>
            <a:ext cx="3238720" cy="2804822"/>
          </a:xfrm>
          <a:prstGeom prst="rect">
            <a:avLst/>
          </a:prstGeom>
          <a:noFill/>
          <a:ln>
            <a:noFill/>
          </a:ln>
        </p:spPr>
      </p:pic>
      <p:pic>
        <p:nvPicPr>
          <p:cNvPr id="115" name="Google Shape;115;p16"/>
          <p:cNvPicPr preferRelativeResize="0"/>
          <p:nvPr/>
        </p:nvPicPr>
        <p:blipFill rotWithShape="1">
          <a:blip r:embed="rId18">
            <a:alphaModFix/>
          </a:blip>
          <a:stretch/>
        </p:blipFill>
        <p:spPr>
          <a:xfrm>
            <a:off x="6693850" y="889150"/>
            <a:ext cx="3276925" cy="2804823"/>
          </a:xfrm>
          <a:prstGeom prst="rect">
            <a:avLst/>
          </a:prstGeom>
          <a:noFill/>
          <a:ln>
            <a:noFill/>
          </a:ln>
        </p:spPr>
      </p:pic>
      <p:pic>
        <p:nvPicPr>
          <p:cNvPr id="116" name="Google Shape;116;p16"/>
          <p:cNvPicPr preferRelativeResize="0"/>
          <p:nvPr/>
        </p:nvPicPr>
        <p:blipFill rotWithShape="1">
          <a:blip r:embed="rId19">
            <a:alphaModFix/>
          </a:blip>
          <a:stretch/>
        </p:blipFill>
        <p:spPr>
          <a:xfrm>
            <a:off x="95100" y="3756325"/>
            <a:ext cx="3276924" cy="2778950"/>
          </a:xfrm>
          <a:prstGeom prst="rect">
            <a:avLst/>
          </a:prstGeom>
          <a:noFill/>
          <a:ln>
            <a:noFill/>
          </a:ln>
        </p:spPr>
      </p:pic>
      <p:pic>
        <p:nvPicPr>
          <p:cNvPr id="117" name="Google Shape;117;p16"/>
          <p:cNvPicPr preferRelativeResize="0"/>
          <p:nvPr/>
        </p:nvPicPr>
        <p:blipFill rotWithShape="1">
          <a:blip r:embed="rId21">
            <a:alphaModFix/>
          </a:blip>
          <a:stretch/>
        </p:blipFill>
        <p:spPr>
          <a:xfrm>
            <a:off x="6686375" y="3750425"/>
            <a:ext cx="3276925" cy="2778952"/>
          </a:xfrm>
          <a:prstGeom prst="rect">
            <a:avLst/>
          </a:prstGeom>
          <a:noFill/>
          <a:ln>
            <a:noFill/>
          </a:ln>
        </p:spPr>
      </p:pic>
      <p:pic>
        <p:nvPicPr>
          <p:cNvPr id="118" name="Google Shape;118;p16">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119" name="Google Shape;119;p16">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120" name="Google Shape;120;p16"/>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9"/>
              </a:rPr>
              <a:t>{{AGENT_PHONE}}</a:t>
            </a:r>
            <a:r>
              <a:rPr lang="en" sz="1300">
                <a:solidFill>
                  <a:srgbClr val="000000"/>
                </a:solidFill>
              </a:rPr>
              <a:t>  </a:t>
            </a:r>
            <a:r>
              <a:rPr lang="en" sz="1300" u="sng">
                <a:solidFill>
                  <a:srgbClr val="C4521A"/>
                </a:solidFill>
                <a:hlinkClick r:id="rId8"/>
              </a:rPr>
              <a:t>{{AGENT_EMAIL}}</a:t>
            </a:r>
            <a:endParaRPr sz="1000">
              <a:solidFill>
                <a:srgbClr val="000000"/>
              </a:solidFill>
            </a:endParaRPr>
          </a:p>
        </p:txBody>
      </p:sp>
      <p:sp>
        <p:nvSpPr>
          <p:cNvPr id="123" name="TextBox 122"/>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a:off x="0" y="0"/>
            <a:ext cx="10058399" cy="831961"/>
          </a:xfrm>
          <a:prstGeom prst="rect">
            <a:avLst/>
          </a:prstGeom>
          <a:noFill/>
          <a:ln>
            <a:noFill/>
          </a:ln>
        </p:spPr>
      </p:pic>
      <p:sp>
        <p:nvSpPr>
          <p:cNvPr id="128" name="Google Shape;128;p17"/>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30" name="Google Shape;130;p17"/>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7">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32" name="Google Shape;132;p17">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34" name="Google Shape;134;p17"/>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10"/>
              </a:rPr>
              <a:t>{{AGENT_PHONE}}</a:t>
            </a:r>
            <a:r>
              <a:rPr lang="en" sz="1300">
                <a:solidFill>
                  <a:srgbClr val="000000"/>
                </a:solidFill>
              </a:rPr>
              <a:t>  </a:t>
            </a:r>
            <a:r>
              <a:rPr lang="en" sz="1300" u="sng">
                <a:solidFill>
                  <a:srgbClr val="C4521A"/>
                </a:solidFill>
                <a:hlinkClick r:id="rId8"/>
              </a:rPr>
              <a:t>{{AGENT_EMAIL}}</a:t>
            </a:r>
            <a:endParaRPr sz="1000">
              <a:solidFill>
                <a:srgbClr val="000000"/>
              </a:solidFill>
            </a:endParaRPr>
          </a:p>
        </p:txBody>
      </p:sp>
      <p:pic>
        <p:nvPicPr>
          <p:cNvPr id="135" name="Google Shape;135;p17"/>
          <p:cNvPicPr preferRelativeResize="0"/>
          <p:nvPr/>
        </p:nvPicPr>
        <p:blipFill rotWithShape="1">
          <a:blip r:embed="rId9">
            <a:alphaModFix/>
          </a:blip>
          <a:stretch/>
        </p:blipFill>
        <p:spPr>
          <a:xfrm>
            <a:off x="0" y="832775"/>
            <a:ext cx="10058401" cy="5791425"/>
          </a:xfrm>
          <a:prstGeom prst="rect">
            <a:avLst/>
          </a:prstGeom>
          <a:noFill/>
          <a:ln>
            <a:noFill/>
          </a:ln>
        </p:spPr>
      </p:pic>
      <p:sp>
        <p:nvSpPr>
          <p:cNvPr id="136" name="TextBox 135"/>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8"/>
          <p:cNvPicPr preferRelativeResize="0"/>
          <p:nvPr/>
        </p:nvPicPr>
        <p:blipFill>
          <a:blip r:embed="rId3">
            <a:alphaModFix/>
          </a:blip>
          <a:stretch>
            <a:fillRect/>
          </a:stretch>
        </p:blipFill>
        <p:spPr>
          <a:xfrm>
            <a:off x="0" y="0"/>
            <a:ext cx="10058399" cy="831961"/>
          </a:xfrm>
          <a:prstGeom prst="rect">
            <a:avLst/>
          </a:prstGeom>
          <a:noFill/>
          <a:ln>
            <a:noFill/>
          </a:ln>
        </p:spPr>
      </p:pic>
      <p:sp>
        <p:nvSpPr>
          <p:cNvPr id="141" name="Google Shape;141;p18"/>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43" name="Google Shape;143;p18"/>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 name="Google Shape;144;p18">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45" name="Google Shape;145;p18">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47" name="Google Shape;147;p18"/>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10"/>
              </a:rPr>
              <a:t>{{AGENT_PHONE}}</a:t>
            </a:r>
            <a:r>
              <a:rPr lang="en" sz="1300">
                <a:solidFill>
                  <a:srgbClr val="000000"/>
                </a:solidFill>
              </a:rPr>
              <a:t>  </a:t>
            </a:r>
            <a:r>
              <a:rPr lang="en" sz="1300" u="sng">
                <a:solidFill>
                  <a:srgbClr val="C4521A"/>
                </a:solidFill>
                <a:hlinkClick r:id="rId8"/>
              </a:rPr>
              <a:t>{{AGENT_EMAIL}}</a:t>
            </a:r>
            <a:endParaRPr sz="1000">
              <a:solidFill>
                <a:srgbClr val="000000"/>
              </a:solidFill>
            </a:endParaRPr>
          </a:p>
        </p:txBody>
      </p:sp>
      <p:pic>
        <p:nvPicPr>
          <p:cNvPr id="148" name="Google Shape;148;p18"/>
          <p:cNvPicPr preferRelativeResize="0"/>
          <p:nvPr/>
        </p:nvPicPr>
        <p:blipFill>
          <a:blip r:embed="rId9">
            <a:alphaModFix/>
          </a:blip>
          <a:stretch>
            <a:fillRect/>
          </a:stretch>
        </p:blipFill>
        <p:spPr>
          <a:xfrm>
            <a:off x="0" y="858522"/>
            <a:ext cx="10058399" cy="5682406"/>
          </a:xfrm>
          <a:prstGeom prst="rect">
            <a:avLst/>
          </a:prstGeom>
          <a:noFill/>
          <a:ln>
            <a:noFill/>
          </a:ln>
        </p:spPr>
      </p:pic>
      <p:sp>
        <p:nvSpPr>
          <p:cNvPr id="149" name="TextBox 148"/>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9"/>
          <p:cNvPicPr preferRelativeResize="0"/>
          <p:nvPr/>
        </p:nvPicPr>
        <p:blipFill>
          <a:blip r:embed="rId3">
            <a:alphaModFix/>
          </a:blip>
          <a:stretch>
            <a:fillRect/>
          </a:stretch>
        </p:blipFill>
        <p:spPr>
          <a:xfrm>
            <a:off x="0" y="0"/>
            <a:ext cx="10058399" cy="831961"/>
          </a:xfrm>
          <a:prstGeom prst="rect">
            <a:avLst/>
          </a:prstGeom>
          <a:noFill/>
          <a:ln>
            <a:noFill/>
          </a:ln>
        </p:spPr>
      </p:pic>
      <p:sp>
        <p:nvSpPr>
          <p:cNvPr id="154" name="Google Shape;154;p19"/>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SURVEY</a:t>
            </a:r>
            <a:endParaRPr lang="en-US" sz="2600" b="1">
              <a:solidFill>
                <a:srgbClr val="FFFFFF"/>
              </a:solidFill>
              <a:latin typeface="Calibri"/>
              <a:cs typeface="Calibri"/>
            </a:endParaRPr>
          </a:p>
        </p:txBody>
      </p:sp>
      <p:sp>
        <p:nvSpPr>
          <p:cNvPr id="155" name="Google Shape;155;p19"/>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19">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57" name="Google Shape;157;p19">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59" name="Google Shape;159;p19"/>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10"/>
              </a:rPr>
              <a:t>{{AGENT_PHONE}}</a:t>
            </a:r>
            <a:r>
              <a:rPr lang="en" sz="1300">
                <a:solidFill>
                  <a:srgbClr val="000000"/>
                </a:solidFill>
              </a:rPr>
              <a:t>  </a:t>
            </a:r>
            <a:r>
              <a:rPr lang="en" sz="1300" u="sng">
                <a:solidFill>
                  <a:srgbClr val="C4521A"/>
                </a:solidFill>
                <a:hlinkClick r:id="rId8"/>
              </a:rPr>
              <a:t>{{AGENT_EMAIL}}</a:t>
            </a:r>
            <a:endParaRPr sz="1000">
              <a:solidFill>
                <a:srgbClr val="000000"/>
              </a:solidFill>
            </a:endParaRPr>
          </a:p>
        </p:txBody>
      </p:sp>
      <p:pic>
        <p:nvPicPr>
          <p:cNvPr id="160" name="Google Shape;160;p19"/>
          <p:cNvPicPr preferRelativeResize="0"/>
          <p:nvPr/>
        </p:nvPicPr>
        <p:blipFill>
          <a:blip r:embed="rId9">
            <a:alphaModFix/>
          </a:blip>
          <a:stretch>
            <a:fillRect/>
          </a:stretch>
        </p:blipFill>
        <p:spPr>
          <a:xfrm>
            <a:off x="3059550" y="831950"/>
            <a:ext cx="4954926" cy="5735550"/>
          </a:xfrm>
          <a:prstGeom prst="rect">
            <a:avLst/>
          </a:prstGeom>
          <a:noFill/>
          <a:ln>
            <a:noFill/>
          </a:ln>
        </p:spPr>
      </p:pic>
      <p:sp>
        <p:nvSpPr>
          <p:cNvPr id="161" name="TextBox 160"/>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SALE COMPARABLES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8"/>
              </a:rPr>
              <a:t>{{AGENT_PHONE}}</a:t>
            </a:r>
            <a:r>
              <a:rPr lang="en" sz="1300">
                <a:solidFill>
                  <a:srgbClr val="000000"/>
                </a:solidFill>
              </a:rPr>
              <a:t>  </a:t>
            </a:r>
            <a:r>
              <a:rPr lang="en" sz="1300" u="sng">
                <a:solidFill>
                  <a:srgbClr val="C4521A"/>
                </a:solidFill>
                <a:hlinkClick r:id="rId2"/>
              </a:rPr>
              <a:t>{{AGENT_EMAIL}}</a:t>
            </a:r>
            <a:endParaRPr sz="1000">
              <a:solidFill>
                <a:srgbClr val="000000"/>
              </a:solidFill>
            </a:endParaRPr>
          </a:p>
        </p:txBody>
      </p:sp>
      <p:sp>
        <p:nvSpPr>
          <p:cNvPr id="173" name="Rounded Rectangle 172"/>
          <p:cNvSpPr/>
          <p:nvPr/>
        </p:nvSpPr>
        <p:spPr>
          <a:xfrm>
            <a:off x="152175" y="980000"/>
            <a:ext cx="3120367" cy="800000"/>
          </a:xfrm>
          <a:prstGeom prst="roundRect">
            <a:avLst>
              <a:gd name="adj" fmla="val 8000"/>
            </a:avLst>
          </a:prstGeom>
          <a:solidFill>
            <a:srgbClr val="1717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Calibri"/>
              </a:rPr>
              <a:t>{{BEST_COMP_PPU}}</a:t>
            </a:r>
          </a:p>
          <a:p>
            <a:pPr algn="ctr">
              <a:spcBef>
                <a:spcPts val="200"/>
              </a:spcBef>
            </a:pPr>
            <a:r>
              <a:rPr sz="1100" b="1" i="0">
                <a:solidFill>
                  <a:srgbClr val="FFFFFF"/>
                </a:solidFill>
                <a:latin typeface="Calibri"/>
              </a:rPr>
              <a:t>Best comp: {{BEST_COMP_NAME}}</a:t>
            </a:r>
          </a:p>
          <a:p>
            <a:pPr algn="ctr"/>
            <a:r>
              <a:rPr sz="900" b="0" i="0">
                <a:solidFill>
                  <a:srgbClr val="FFFFFF"/>
                </a:solidFill>
                <a:latin typeface="Calibri"/>
              </a:rPr>
              <a:t>{{BEST_COMP_NOTE}}</a:t>
            </a:r>
          </a:p>
        </p:txBody>
      </p:sp>
      <p:sp>
        <p:nvSpPr>
          <p:cNvPr id="174" name="Rounded Rectangle 173"/>
          <p:cNvSpPr/>
          <p:nvPr/>
        </p:nvSpPr>
        <p:spPr>
          <a:xfrm>
            <a:off x="3392542" y="980000"/>
            <a:ext cx="3120367" cy="80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171715"/>
                </a:solidFill>
                <a:latin typeface="Calibri"/>
              </a:rPr>
              <a:t>{{AVG_COMP_PPU}}</a:t>
            </a:r>
          </a:p>
          <a:p>
            <a:pPr algn="ctr">
              <a:spcBef>
                <a:spcPts val="200"/>
              </a:spcBef>
            </a:pPr>
            <a:r>
              <a:rPr sz="1100" b="1" i="0">
                <a:solidFill>
                  <a:srgbClr val="222222"/>
                </a:solidFill>
                <a:latin typeface="Calibri"/>
              </a:rPr>
              <a:t>Average price per {{UNIT}}</a:t>
            </a:r>
          </a:p>
          <a:p>
            <a:pPr algn="ctr"/>
            <a:r>
              <a:rPr sz="900" b="0" i="0">
                <a:solidFill>
                  <a:srgbClr val="5A5A5A"/>
                </a:solidFill>
                <a:latin typeface="Calibri"/>
              </a:rPr>
              <a:t>{{COMP_COUNT}} sales, {{COMP_YEARS}}</a:t>
            </a:r>
          </a:p>
        </p:txBody>
      </p:sp>
      <p:sp>
        <p:nvSpPr>
          <p:cNvPr id="175" name="Rounded Rectangle 174"/>
          <p:cNvSpPr/>
          <p:nvPr/>
        </p:nvSpPr>
        <p:spPr>
          <a:xfrm>
            <a:off x="6632909" y="980000"/>
            <a:ext cx="3120367" cy="80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171715"/>
                </a:solidFill>
                <a:latin typeface="Calibri"/>
              </a:rPr>
              <a:t>{{PPU}}</a:t>
            </a:r>
          </a:p>
          <a:p>
            <a:pPr algn="ctr">
              <a:spcBef>
                <a:spcPts val="200"/>
              </a:spcBef>
            </a:pPr>
            <a:r>
              <a:rPr sz="1100" b="1" i="0">
                <a:solidFill>
                  <a:srgbClr val="222222"/>
                </a:solidFill>
                <a:latin typeface="Calibri"/>
              </a:rPr>
              <a:t>Subject price per {{UNIT}}</a:t>
            </a:r>
          </a:p>
          <a:p>
            <a:pPr algn="ctr"/>
            <a:r>
              <a:rPr sz="900" b="0" i="0">
                <a:solidFill>
                  <a:srgbClr val="5A5A5A"/>
                </a:solidFill>
                <a:latin typeface="Calibri"/>
              </a:rPr>
              <a:t>{{SIZE}} {{UNIT}}s at {{PRICE}}</a:t>
            </a:r>
          </a:p>
        </p:txBody>
      </p:sp>
      <p:graphicFrame>
        <p:nvGraphicFramePr>
          <p:cNvPr id="176" name="Table 175"/>
          <p:cNvGraphicFramePr>
            <a:graphicFrameLocks noGrp="1"/>
          </p:cNvGraphicFramePr>
          <p:nvPr/>
        </p:nvGraphicFramePr>
        <p:xfrm>
          <a:off x="152175" y="1920000"/>
          <a:ext cx="9601099" cy="3800000"/>
        </p:xfrm>
        <a:graphic>
          <a:graphicData uri="http://schemas.openxmlformats.org/drawingml/2006/table">
            <a:tbl>
              <a:tblPr firstRow="0" bandRow="0">
                <a:tableStyleId>{5C22544A-7EE6-4342-B048-85BDC9FD1C3A}</a:tableStyleId>
              </a:tblPr>
              <a:tblGrid>
                <a:gridCol w="3165198"/>
                <a:gridCol w="1160572"/>
                <a:gridCol w="1055066"/>
                <a:gridCol w="1371586"/>
                <a:gridCol w="949559"/>
                <a:gridCol w="1160572"/>
                <a:gridCol w="738546"/>
              </a:tblGrid>
              <a:tr h="380000">
                <a:tc>
                  <a:txBody>
                    <a:bodyPr/>
                    <a:lstStyle/>
                    <a:p>
                      <a:pPr algn="l"/>
                      <a:r>
                        <a:rPr sz="1100" b="1" i="0">
                          <a:solidFill>
                            <a:srgbClr val="FFFFFF"/>
                          </a:solidFill>
                          <a:latin typeface="Calibri"/>
                        </a:rPr>
                        <a:t>Property</a:t>
                      </a:r>
                    </a:p>
                  </a:txBody>
                  <a:tcPr anchor="ctr" marL="91440" marR="91440" marT="0" marB="0">
                    <a:solidFill>
                      <a:srgbClr val="171715"/>
                    </a:solidFill>
                  </a:tcPr>
                </a:tc>
                <a:tc>
                  <a:txBody>
                    <a:bodyPr/>
                    <a:lstStyle/>
                    <a:p>
                      <a:pPr algn="l"/>
                      <a:r>
                        <a:rPr sz="1100" b="1" i="0">
                          <a:solidFill>
                            <a:srgbClr val="FFFFFF"/>
                          </a:solidFill>
                          <a:latin typeface="Calibri"/>
                        </a:rPr>
                        <a:t>County</a:t>
                      </a:r>
                    </a:p>
                  </a:txBody>
                  <a:tcPr anchor="ctr" marL="91440" marR="91440" marT="0" marB="0">
                    <a:solidFill>
                      <a:srgbClr val="171715"/>
                    </a:solidFill>
                  </a:tcPr>
                </a:tc>
                <a:tc>
                  <a:txBody>
                    <a:bodyPr/>
                    <a:lstStyle/>
                    <a:p>
                      <a:pPr algn="l"/>
                      <a:r>
                        <a:rPr sz="1100" b="1" i="0">
                          <a:solidFill>
                            <a:srgbClr val="FFFFFF"/>
                          </a:solidFill>
                          <a:latin typeface="Calibri"/>
                        </a:rPr>
                        <a:t>Sold</a:t>
                      </a:r>
                    </a:p>
                  </a:txBody>
                  <a:tcPr anchor="ctr" marL="91440" marR="91440" marT="0" marB="0">
                    <a:solidFill>
                      <a:srgbClr val="171715"/>
                    </a:solidFill>
                  </a:tcPr>
                </a:tc>
                <a:tc>
                  <a:txBody>
                    <a:bodyPr/>
                    <a:lstStyle/>
                    <a:p>
                      <a:pPr algn="r"/>
                      <a:r>
                        <a:rPr sz="1100" b="1" i="0">
                          <a:solidFill>
                            <a:srgbClr val="FFFFFF"/>
                          </a:solidFill>
                          <a:latin typeface="Calibri"/>
                        </a:rPr>
                        <a:t>Price</a:t>
                      </a:r>
                    </a:p>
                  </a:txBody>
                  <a:tcPr anchor="ctr" marL="91440" marR="91440" marT="0" marB="0">
                    <a:solidFill>
                      <a:srgbClr val="171715"/>
                    </a:solidFill>
                  </a:tcPr>
                </a:tc>
                <a:tc>
                  <a:txBody>
                    <a:bodyPr/>
                    <a:lstStyle/>
                    <a:p>
                      <a:pPr algn="r"/>
                      <a:r>
                        <a:rPr sz="1100" b="1" i="0">
                          <a:solidFill>
                            <a:srgbClr val="FFFFFF"/>
                          </a:solidFill>
                          <a:latin typeface="Calibri"/>
                        </a:rPr>
                        <a:t>Size</a:t>
                      </a:r>
                    </a:p>
                  </a:txBody>
                  <a:tcPr anchor="ctr" marL="91440" marR="91440" marT="0" marB="0">
                    <a:solidFill>
                      <a:srgbClr val="171715"/>
                    </a:solidFill>
                  </a:tcPr>
                </a:tc>
                <a:tc>
                  <a:txBody>
                    <a:bodyPr/>
                    <a:lstStyle/>
                    <a:p>
                      <a:pPr algn="r"/>
                      <a:r>
                        <a:rPr sz="1100" b="1" i="0">
                          <a:solidFill>
                            <a:srgbClr val="FFFFFF"/>
                          </a:solidFill>
                          <a:latin typeface="Calibri"/>
                        </a:rPr>
                        <a:t>$/Unit</a:t>
                      </a:r>
                    </a:p>
                  </a:txBody>
                  <a:tcPr anchor="ctr" marL="91440" marR="91440" marT="0" marB="0">
                    <a:solidFill>
                      <a:srgbClr val="171715"/>
                    </a:solidFill>
                  </a:tcPr>
                </a:tc>
                <a:tc>
                  <a:txBody>
                    <a:bodyPr/>
                    <a:lstStyle/>
                    <a:p>
                      <a:pPr algn="r"/>
                      <a:r>
                        <a:rPr sz="1100" b="1" i="0">
                          <a:solidFill>
                            <a:srgbClr val="FFFFFF"/>
                          </a:solidFill>
                          <a:latin typeface="Calibri"/>
                        </a:rPr>
                        <a:t>Miles</a:t>
                      </a:r>
                    </a:p>
                  </a:txBody>
                  <a:tcPr anchor="ctr" marL="91440" marR="91440" marT="0" marB="0">
                    <a:solidFill>
                      <a:srgbClr val="171715"/>
                    </a:solidFill>
                  </a:tcPr>
                </a:tc>
              </a:tr>
              <a:tr h="380000">
                <a:tc>
                  <a:txBody>
                    <a:bodyPr/>
                    <a:lstStyle/>
                    <a:p>
                      <a:pPr algn="l"/>
                      <a:r>
                        <a:rPr sz="1100" b="0" i="0">
                          <a:solidFill>
                            <a:srgbClr val="222222"/>
                          </a:solidFill>
                          <a:latin typeface="Calibri"/>
                        </a:rPr>
                        <a:t>SUBJECT: {{ADDRESS}}</a:t>
                      </a:r>
                    </a:p>
                  </a:txBody>
                  <a:tcPr anchor="ctr" marL="91440" marR="91440" marT="0" marB="0">
                    <a:solidFill>
                      <a:srgbClr val="FCEBE1"/>
                    </a:solidFill>
                  </a:tcPr>
                </a:tc>
                <a:tc>
                  <a:txBody>
                    <a:bodyPr/>
                    <a:lstStyle/>
                    <a:p>
                      <a:pPr algn="l"/>
                      <a:r>
                        <a:rPr sz="1100" b="0" i="0">
                          <a:solidFill>
                            <a:srgbClr val="222222"/>
                          </a:solidFill>
                          <a:latin typeface="Calibri"/>
                        </a:rPr>
                        <a:t>{{COUNTY}}</a:t>
                      </a:r>
                    </a:p>
                  </a:txBody>
                  <a:tcPr anchor="ctr" marL="91440" marR="91440" marT="0" marB="0">
                    <a:solidFill>
                      <a:srgbClr val="FCEBE1"/>
                    </a:solidFill>
                  </a:tcPr>
                </a:tc>
                <a:tc>
                  <a:txBody>
                    <a:bodyPr/>
                    <a:lstStyle/>
                    <a:p>
                      <a:pPr algn="l"/>
                      <a:r>
                        <a:rPr sz="1100" b="0" i="0">
                          <a:solidFill>
                            <a:srgbClr val="222222"/>
                          </a:solidFill>
                          <a:latin typeface="Calibri"/>
                        </a:rPr>
                        <a:t>Listed</a:t>
                      </a:r>
                    </a:p>
                  </a:txBody>
                  <a:tcPr anchor="ctr" marL="91440" marR="91440" marT="0" marB="0">
                    <a:solidFill>
                      <a:srgbClr val="FCEBE1"/>
                    </a:solidFill>
                  </a:tcPr>
                </a:tc>
                <a:tc>
                  <a:txBody>
                    <a:bodyPr/>
                    <a:lstStyle/>
                    <a:p>
                      <a:pPr algn="r"/>
                      <a:r>
                        <a:rPr sz="1100" b="0" i="0">
                          <a:solidFill>
                            <a:srgbClr val="222222"/>
                          </a:solidFill>
                          <a:latin typeface="Calibri"/>
                        </a:rPr>
                        <a:t>{{PRICE}}</a:t>
                      </a:r>
                    </a:p>
                  </a:txBody>
                  <a:tcPr anchor="ctr" marL="91440" marR="91440" marT="0" marB="0">
                    <a:solidFill>
                      <a:srgbClr val="FCEBE1"/>
                    </a:solidFill>
                  </a:tcPr>
                </a:tc>
                <a:tc>
                  <a:txBody>
                    <a:bodyPr/>
                    <a:lstStyle/>
                    <a:p>
                      <a:pPr algn="r"/>
                      <a:r>
                        <a:rPr sz="1100" b="0" i="0">
                          <a:solidFill>
                            <a:srgbClr val="222222"/>
                          </a:solidFill>
                          <a:latin typeface="Calibri"/>
                        </a:rPr>
                        <a:t>{{SIZE}}</a:t>
                      </a:r>
                    </a:p>
                  </a:txBody>
                  <a:tcPr anchor="ctr" marL="91440" marR="91440" marT="0" marB="0">
                    <a:solidFill>
                      <a:srgbClr val="FCEBE1"/>
                    </a:solidFill>
                  </a:tcPr>
                </a:tc>
                <a:tc>
                  <a:txBody>
                    <a:bodyPr/>
                    <a:lstStyle/>
                    <a:p>
                      <a:pPr algn="r"/>
                      <a:r>
                        <a:rPr sz="1100" b="0" i="0">
                          <a:solidFill>
                            <a:srgbClr val="222222"/>
                          </a:solidFill>
                          <a:latin typeface="Calibri"/>
                        </a:rPr>
                        <a:t>{{PPU}}</a:t>
                      </a:r>
                    </a:p>
                  </a:txBody>
                  <a:tcPr anchor="ctr" marL="91440" marR="91440" marT="0" marB="0">
                    <a:solidFill>
                      <a:srgbClr val="FCEBE1"/>
                    </a:solidFill>
                  </a:tcPr>
                </a:tc>
                <a:tc>
                  <a:txBody>
                    <a:bodyPr/>
                    <a:lstStyle/>
                    <a:p>
                      <a:pPr algn="r"/>
                      <a:r>
                        <a:rPr sz="1100" b="0" i="0">
                          <a:solidFill>
                            <a:srgbClr val="222222"/>
                          </a:solidFill>
                          <a:latin typeface="Calibri"/>
                        </a:rPr>
                        <a:t>-</a:t>
                      </a:r>
                    </a:p>
                  </a:txBody>
                  <a:tcPr anchor="ctr" marL="91440" marR="91440" marT="0" marB="0">
                    <a:solidFill>
                      <a:srgbClr val="FCEBE1"/>
                    </a:solidFill>
                  </a:tcPr>
                </a:tc>
              </a:tr>
              <a:tr h="380000">
                <a:tc>
                  <a:txBody>
                    <a:bodyPr/>
                    <a:lstStyle/>
                    <a:p>
                      <a:pPr algn="l"/>
                      <a:r>
                        <a:rPr sz="1100" b="0" i="0">
                          <a:solidFill>
                            <a:srgbClr val="222222"/>
                          </a:solidFill>
                          <a:latin typeface="Calibri"/>
                        </a:rPr>
                        <a:t>{{COMP_1}}</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r>
              <a:tr h="380000">
                <a:tc>
                  <a:txBody>
                    <a:bodyPr/>
                    <a:lstStyle/>
                    <a:p>
                      <a:pPr algn="l"/>
                      <a:r>
                        <a:rPr sz="1100" b="0" i="0">
                          <a:solidFill>
                            <a:srgbClr val="222222"/>
                          </a:solidFill>
                          <a:latin typeface="Calibri"/>
                        </a:rPr>
                        <a:t>{{COMP_2}}</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{{COMP_3}}</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r>
              <a:tr h="380000">
                <a:tc>
                  <a:txBody>
                    <a:bodyPr/>
                    <a:lstStyle/>
                    <a:p>
                      <a:pPr algn="l"/>
                      <a:r>
                        <a:rPr sz="1100" b="0" i="0">
                          <a:solidFill>
                            <a:srgbClr val="222222"/>
                          </a:solidFill>
                          <a:latin typeface="Calibri"/>
                        </a:rPr>
                        <a:t>{{COMP_4}}</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{{COMP_5}}</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r>
              <a:tr h="380000">
                <a:tc>
                  <a:txBody>
                    <a:bodyPr/>
                    <a:lstStyle/>
                    <a:p>
                      <a:pPr algn="l"/>
                      <a:r>
                        <a:rPr sz="1100" b="0" i="0">
                          <a:solidFill>
                            <a:srgbClr val="222222"/>
                          </a:solidFill>
                          <a:latin typeface="Calibri"/>
                        </a:rPr>
                        <a:t>{{COMP_6}}</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{{COMP_7}}</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l"/>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c>
                  <a:txBody>
                    <a:bodyPr/>
                    <a:lstStyle/>
                    <a:p>
                      <a:pPr algn="r"/>
                      <a:r>
                        <a:rPr sz="1100" b="0" i="0">
                          <a:solidFill>
                            <a:srgbClr val="222222"/>
                          </a:solidFill>
                          <a:latin typeface="Calibri"/>
                        </a:rPr>
                        <a:t/>
                      </a:r>
                    </a:p>
                  </a:txBody>
                  <a:tcPr anchor="ctr" marL="91440" marR="91440" marT="0" marB="0">
                    <a:solidFill>
                      <a:srgbClr val="FAFAF9"/>
                    </a:solidFill>
                  </a:tcPr>
                </a:tc>
              </a:tr>
              <a:tr h="380000">
                <a:tc>
                  <a:txBody>
                    <a:bodyPr/>
                    <a:lstStyle/>
                    <a:p>
                      <a:pPr algn="l"/>
                      <a:r>
                        <a:rPr sz="1100" b="0" i="0">
                          <a:solidFill>
                            <a:srgbClr val="222222"/>
                          </a:solidFill>
                          <a:latin typeface="Calibri"/>
                        </a:rPr>
                        <a:t>{{COMP_8}}</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bl>
          </a:graphicData>
        </a:graphic>
      </p:graphicFrame>
      <p:sp>
        <p:nvSpPr>
          <p:cNvPr id="177" name="TextBox 176"/>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{{COMP_SOURCE}}. Miles measured straight-line from the subject.</a:t>
            </a:r>
          </a:p>
        </p:txBody>
      </p:sp>
      <p:sp>
        <p:nvSpPr>
          <p:cNvPr id="178" name="TextBox 177"/>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DEMOGRAPHICS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9"/>
              </a:rPr>
              <a:t>{{AGENT_PHONE}}</a:t>
            </a:r>
            <a:r>
              <a:rPr lang="en" sz="1300">
                <a:solidFill>
                  <a:srgbClr val="000000"/>
                </a:solidFill>
              </a:rPr>
              <a:t>  </a:t>
            </a:r>
            <a:r>
              <a:rPr lang="en" sz="1300" u="sng">
                <a:solidFill>
                  <a:srgbClr val="C4521A"/>
                </a:solidFill>
                <a:hlinkClick r:id="rId8"/>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171715"/>
                </a:solidFill>
                <a:latin typeface="Calibri"/>
              </a:rPr>
              <a:t>Who lives near the site</a:t>
            </a:r>
          </a:p>
        </p:txBody>
      </p:sp>
      <p:sp>
        <p:nvSpPr>
          <p:cNvPr id="174" name="TextBox 173"/>
          <p:cNvSpPr txBox="1"/>
          <p:nvPr/>
        </p:nvSpPr>
        <p:spPr>
          <a:xfrm>
            <a:off x="152175" y="1330000"/>
            <a:ext cx="9601102" cy="300000"/>
          </a:xfrm>
          <a:prstGeom prst="rect">
            <a:avLst/>
          </a:prstGeom>
          <a:noFill/>
        </p:spPr>
        <p:txBody>
          <a:bodyPr wrap="square" anchor="t">
            <a:spAutoFit/>
          </a:bodyPr>
          <a:lstStyle/>
          <a:p>
            <a:pPr algn="l"/>
            <a:r>
              <a:rPr sz="1100" b="0" i="0">
                <a:solidFill>
                  <a:srgbClr val="5A5A5A"/>
                </a:solidFill>
                <a:latin typeface="Calibri"/>
              </a:rPr>
              <a:t>Rings measured from {{ADDRESS}}, {{CITY}}, {{STATE}} {{ZIP}}</a:t>
            </a:r>
          </a:p>
        </p:txBody>
      </p:sp>
      <p:graphicFrame>
        <p:nvGraphicFramePr>
          <p:cNvPr id="175" name="Table 174"/>
          <p:cNvGraphicFramePr>
            <a:graphicFrameLocks noGrp="1"/>
          </p:cNvGraphicFramePr>
          <p:nvPr/>
        </p:nvGraphicFramePr>
        <p:xfrm>
          <a:off x="152175" y="1750000"/>
          <a:ext cx="9601100" cy="3920000"/>
        </p:xfrm>
        <a:graphic>
          <a:graphicData uri="http://schemas.openxmlformats.org/drawingml/2006/table">
            <a:tbl>
              <a:tblPr firstRow="0" bandRow="0">
                <a:tableStyleId>{5C22544A-7EE6-4342-B048-85BDC9FD1C3A}</a:tableStyleId>
              </a:tblPr>
              <a:tblGrid>
                <a:gridCol w="3491309"/>
                <a:gridCol w="2036597"/>
                <a:gridCol w="2036597"/>
                <a:gridCol w="2036597"/>
              </a:tblGrid>
              <a:tr h="560000">
                <a:tc>
                  <a:txBody>
                    <a:bodyPr/>
                    <a:lstStyle/>
                    <a:p>
                      <a:pPr algn="l"/>
                      <a:r>
                        <a:rPr sz="1500" b="1" i="0">
                          <a:solidFill>
                            <a:srgbClr val="FFFFFF"/>
                          </a:solidFill>
                          <a:latin typeface="Calibri"/>
                        </a:rPr>
                        <a:t/>
                      </a:r>
                    </a:p>
                  </a:txBody>
                  <a:tcPr anchor="ctr" marL="91440" marR="91440" marT="0" marB="0">
                    <a:solidFill>
                      <a:srgbClr val="171715"/>
                    </a:solidFill>
                  </a:tcPr>
                </a:tc>
                <a:tc>
                  <a:txBody>
                    <a:bodyPr/>
                    <a:lstStyle/>
                    <a:p>
                      <a:pPr algn="ctr"/>
                      <a:r>
                        <a:rPr sz="1500" b="1" i="0">
                          <a:solidFill>
                            <a:srgbClr val="FFFFFF"/>
                          </a:solidFill>
                          <a:latin typeface="Calibri"/>
                        </a:rPr>
                        <a:t>1 MILE</a:t>
                      </a:r>
                    </a:p>
                  </a:txBody>
                  <a:tcPr anchor="ctr" marL="91440" marR="91440" marT="0" marB="0">
                    <a:solidFill>
                      <a:srgbClr val="171715"/>
                    </a:solidFill>
                  </a:tcPr>
                </a:tc>
                <a:tc>
                  <a:txBody>
                    <a:bodyPr/>
                    <a:lstStyle/>
                    <a:p>
                      <a:pPr algn="ctr"/>
                      <a:r>
                        <a:rPr sz="1500" b="1" i="0">
                          <a:solidFill>
                            <a:srgbClr val="FFFFFF"/>
                          </a:solidFill>
                          <a:latin typeface="Calibri"/>
                        </a:rPr>
                        <a:t>3 MILES</a:t>
                      </a:r>
                    </a:p>
                  </a:txBody>
                  <a:tcPr anchor="ctr" marL="91440" marR="91440" marT="0" marB="0">
                    <a:solidFill>
                      <a:srgbClr val="171715"/>
                    </a:solidFill>
                  </a:tcPr>
                </a:tc>
                <a:tc>
                  <a:txBody>
                    <a:bodyPr/>
                    <a:lstStyle/>
                    <a:p>
                      <a:pPr algn="ctr"/>
                      <a:r>
                        <a:rPr sz="1500" b="1" i="0">
                          <a:solidFill>
                            <a:srgbClr val="FFFFFF"/>
                          </a:solidFill>
                          <a:latin typeface="Calibri"/>
                        </a:rPr>
                        <a:t>5 MILES</a:t>
                      </a:r>
                    </a:p>
                  </a:txBody>
                  <a:tcPr anchor="ctr" marL="91440" marR="91440" marT="0" marB="0">
                    <a:solidFill>
                      <a:srgbClr val="171715"/>
                    </a:solidFill>
                  </a:tcPr>
                </a:tc>
              </a:tr>
              <a:tr h="560000">
                <a:tc>
                  <a:txBody>
                    <a:bodyPr/>
                    <a:lstStyle/>
                    <a:p>
                      <a:pPr algn="l"/>
                      <a:r>
                        <a:rPr sz="1500" b="1" i="0">
                          <a:solidFill>
                            <a:srgbClr val="222222"/>
                          </a:solidFill>
                          <a:latin typeface="Calibri"/>
                        </a:rPr>
                        <a:t>Population</a:t>
                      </a:r>
                    </a:p>
                  </a:txBody>
                  <a:tcPr anchor="ctr" marL="91440" marR="91440" marT="0" marB="0">
                    <a:solidFill>
                      <a:srgbClr val="F4F4F3"/>
                    </a:solidFill>
                  </a:tcPr>
                </a:tc>
                <a:tc>
                  <a:txBody>
                    <a:bodyPr/>
                    <a:lstStyle/>
                    <a:p>
                      <a:pPr algn="ctr"/>
                      <a:r>
                        <a:rPr sz="1500" b="0" i="0">
                          <a:solidFill>
                            <a:srgbClr val="222222"/>
                          </a:solidFill>
                          <a:latin typeface="Calibri"/>
                        </a:rPr>
                        <a:t>{{POP_1}}</a:t>
                      </a:r>
                    </a:p>
                  </a:txBody>
                  <a:tcPr anchor="ctr" marL="91440" marR="91440" marT="0" marB="0">
                    <a:solidFill>
                      <a:srgbClr val="F4F4F3"/>
                    </a:solidFill>
                  </a:tcPr>
                </a:tc>
                <a:tc>
                  <a:txBody>
                    <a:bodyPr/>
                    <a:lstStyle/>
                    <a:p>
                      <a:pPr algn="ctr"/>
                      <a:r>
                        <a:rPr sz="1500" b="0" i="0">
                          <a:solidFill>
                            <a:srgbClr val="222222"/>
                          </a:solidFill>
                          <a:latin typeface="Calibri"/>
                        </a:rPr>
                        <a:t>{{POP_3}}</a:t>
                      </a:r>
                    </a:p>
                  </a:txBody>
                  <a:tcPr anchor="ctr" marL="91440" marR="91440" marT="0" marB="0">
                    <a:solidFill>
                      <a:srgbClr val="F4F4F3"/>
                    </a:solidFill>
                  </a:tcPr>
                </a:tc>
                <a:tc>
                  <a:txBody>
                    <a:bodyPr/>
                    <a:lstStyle/>
                    <a:p>
                      <a:pPr algn="ctr"/>
                      <a:r>
                        <a:rPr sz="1500" b="0" i="0">
                          <a:solidFill>
                            <a:srgbClr val="222222"/>
                          </a:solidFill>
                          <a:latin typeface="Calibri"/>
                        </a:rPr>
                        <a:t>{{POP_5}}</a:t>
                      </a:r>
                    </a:p>
                  </a:txBody>
                  <a:tcPr anchor="ctr" marL="91440" marR="91440" marT="0" marB="0">
                    <a:solidFill>
                      <a:srgbClr val="F4F4F3"/>
                    </a:solidFill>
                  </a:tcPr>
                </a:tc>
              </a:tr>
              <a:tr h="560000">
                <a:tc>
                  <a:txBody>
                    <a:bodyPr/>
                    <a:lstStyle/>
                    <a:p>
                      <a:pPr algn="l"/>
                      <a:r>
                        <a:rPr sz="1500" b="1" i="0">
                          <a:solidFill>
                            <a:srgbClr val="222222"/>
                          </a:solidFill>
                          <a:latin typeface="Calibri"/>
                        </a:rPr>
                        <a:t>Households</a:t>
                      </a:r>
                    </a:p>
                  </a:txBody>
                  <a:tcPr anchor="ctr" marL="91440" marR="91440" marT="0" marB="0">
                    <a:solidFill>
                      <a:srgbClr val="FFFFFF"/>
                    </a:solidFill>
                  </a:tcPr>
                </a:tc>
                <a:tc>
                  <a:txBody>
                    <a:bodyPr/>
                    <a:lstStyle/>
                    <a:p>
                      <a:pPr algn="ctr"/>
                      <a:r>
                        <a:rPr sz="1500" b="0" i="0">
                          <a:solidFill>
                            <a:srgbClr val="222222"/>
                          </a:solidFill>
                          <a:latin typeface="Calibri"/>
                        </a:rPr>
                        <a:t>{{HH_1}}</a:t>
                      </a:r>
                    </a:p>
                  </a:txBody>
                  <a:tcPr anchor="ctr" marL="91440" marR="91440" marT="0" marB="0">
                    <a:solidFill>
                      <a:srgbClr val="FFFFFF"/>
                    </a:solidFill>
                  </a:tcPr>
                </a:tc>
                <a:tc>
                  <a:txBody>
                    <a:bodyPr/>
                    <a:lstStyle/>
                    <a:p>
                      <a:pPr algn="ctr"/>
                      <a:r>
                        <a:rPr sz="1500" b="0" i="0">
                          <a:solidFill>
                            <a:srgbClr val="222222"/>
                          </a:solidFill>
                          <a:latin typeface="Calibri"/>
                        </a:rPr>
                        <a:t>{{HH_3}}</a:t>
                      </a:r>
                    </a:p>
                  </a:txBody>
                  <a:tcPr anchor="ctr" marL="91440" marR="91440" marT="0" marB="0">
                    <a:solidFill>
                      <a:srgbClr val="FFFFFF"/>
                    </a:solidFill>
                  </a:tcPr>
                </a:tc>
                <a:tc>
                  <a:txBody>
                    <a:bodyPr/>
                    <a:lstStyle/>
                    <a:p>
                      <a:pPr algn="ctr"/>
                      <a:r>
                        <a:rPr sz="1500" b="0" i="0">
                          <a:solidFill>
                            <a:srgbClr val="222222"/>
                          </a:solidFill>
                          <a:latin typeface="Calibri"/>
                        </a:rPr>
                        <a:t>{{HH_5}}</a:t>
                      </a:r>
                    </a:p>
                  </a:txBody>
                  <a:tcPr anchor="ctr" marL="91440" marR="91440" marT="0" marB="0">
                    <a:solidFill>
                      <a:srgbClr val="FFFFFF"/>
                    </a:solidFill>
                  </a:tcPr>
                </a:tc>
              </a:tr>
              <a:tr h="560000">
                <a:tc>
                  <a:txBody>
                    <a:bodyPr/>
                    <a:lstStyle/>
                    <a:p>
                      <a:pPr algn="l"/>
                      <a:r>
                        <a:rPr sz="1500" b="1" i="0">
                          <a:solidFill>
                            <a:srgbClr val="222222"/>
                          </a:solidFill>
                          <a:latin typeface="Calibri"/>
                        </a:rPr>
                        <a:t>Avg. household size</a:t>
                      </a:r>
                    </a:p>
                  </a:txBody>
                  <a:tcPr anchor="ctr" marL="91440" marR="91440" marT="0" marB="0">
                    <a:solidFill>
                      <a:srgbClr val="F4F4F3"/>
                    </a:solidFill>
                  </a:tcPr>
                </a:tc>
                <a:tc>
                  <a:txBody>
                    <a:bodyPr/>
                    <a:lstStyle/>
                    <a:p>
                      <a:pPr algn="ctr"/>
                      <a:r>
                        <a:rPr sz="1500" b="0" i="0">
                          <a:solidFill>
                            <a:srgbClr val="222222"/>
                          </a:solidFill>
                          <a:latin typeface="Calibri"/>
                        </a:rPr>
                        <a:t>{{HHSIZE_1}}</a:t>
                      </a:r>
                    </a:p>
                  </a:txBody>
                  <a:tcPr anchor="ctr" marL="91440" marR="91440" marT="0" marB="0">
                    <a:solidFill>
                      <a:srgbClr val="F4F4F3"/>
                    </a:solidFill>
                  </a:tcPr>
                </a:tc>
                <a:tc>
                  <a:txBody>
                    <a:bodyPr/>
                    <a:lstStyle/>
                    <a:p>
                      <a:pPr algn="ctr"/>
                      <a:r>
                        <a:rPr sz="1500" b="0" i="0">
                          <a:solidFill>
                            <a:srgbClr val="222222"/>
                          </a:solidFill>
                          <a:latin typeface="Calibri"/>
                        </a:rPr>
                        <a:t>{{HHSIZE_3}}</a:t>
                      </a:r>
                    </a:p>
                  </a:txBody>
                  <a:tcPr anchor="ctr" marL="91440" marR="91440" marT="0" marB="0">
                    <a:solidFill>
                      <a:srgbClr val="F4F4F3"/>
                    </a:solidFill>
                  </a:tcPr>
                </a:tc>
                <a:tc>
                  <a:txBody>
                    <a:bodyPr/>
                    <a:lstStyle/>
                    <a:p>
                      <a:pPr algn="ctr"/>
                      <a:r>
                        <a:rPr sz="1500" b="0" i="0">
                          <a:solidFill>
                            <a:srgbClr val="222222"/>
                          </a:solidFill>
                          <a:latin typeface="Calibri"/>
                        </a:rPr>
                        <a:t>{{HHSIZE_5}}</a:t>
                      </a:r>
                    </a:p>
                  </a:txBody>
                  <a:tcPr anchor="ctr" marL="91440" marR="91440" marT="0" marB="0">
                    <a:solidFill>
                      <a:srgbClr val="F4F4F3"/>
                    </a:solidFill>
                  </a:tcPr>
                </a:tc>
              </a:tr>
              <a:tr h="560000">
                <a:tc>
                  <a:txBody>
                    <a:bodyPr/>
                    <a:lstStyle/>
                    <a:p>
                      <a:pPr algn="l"/>
                      <a:r>
                        <a:rPr sz="1500" b="1" i="0">
                          <a:solidFill>
                            <a:srgbClr val="222222"/>
                          </a:solidFill>
                          <a:latin typeface="Calibri"/>
                        </a:rPr>
                        <a:t>Median age</a:t>
                      </a:r>
                    </a:p>
                  </a:txBody>
                  <a:tcPr anchor="ctr" marL="91440" marR="91440" marT="0" marB="0">
                    <a:solidFill>
                      <a:srgbClr val="FFFFFF"/>
                    </a:solidFill>
                  </a:tcPr>
                </a:tc>
                <a:tc>
                  <a:txBody>
                    <a:bodyPr/>
                    <a:lstStyle/>
                    <a:p>
                      <a:pPr algn="ctr"/>
                      <a:r>
                        <a:rPr sz="1500" b="0" i="0">
                          <a:solidFill>
                            <a:srgbClr val="222222"/>
                          </a:solidFill>
                          <a:latin typeface="Calibri"/>
                        </a:rPr>
                        <a:t>{{AGE_1}}</a:t>
                      </a:r>
                    </a:p>
                  </a:txBody>
                  <a:tcPr anchor="ctr" marL="91440" marR="91440" marT="0" marB="0">
                    <a:solidFill>
                      <a:srgbClr val="FFFFFF"/>
                    </a:solidFill>
                  </a:tcPr>
                </a:tc>
                <a:tc>
                  <a:txBody>
                    <a:bodyPr/>
                    <a:lstStyle/>
                    <a:p>
                      <a:pPr algn="ctr"/>
                      <a:r>
                        <a:rPr sz="1500" b="0" i="0">
                          <a:solidFill>
                            <a:srgbClr val="222222"/>
                          </a:solidFill>
                          <a:latin typeface="Calibri"/>
                        </a:rPr>
                        <a:t>{{AGE_3}}</a:t>
                      </a:r>
                    </a:p>
                  </a:txBody>
                  <a:tcPr anchor="ctr" marL="91440" marR="91440" marT="0" marB="0">
                    <a:solidFill>
                      <a:srgbClr val="FFFFFF"/>
                    </a:solidFill>
                  </a:tcPr>
                </a:tc>
                <a:tc>
                  <a:txBody>
                    <a:bodyPr/>
                    <a:lstStyle/>
                    <a:p>
                      <a:pPr algn="ctr"/>
                      <a:r>
                        <a:rPr sz="1500" b="0" i="0">
                          <a:solidFill>
                            <a:srgbClr val="222222"/>
                          </a:solidFill>
                          <a:latin typeface="Calibri"/>
                        </a:rPr>
                        <a:t>{{AGE_5}}</a:t>
                      </a:r>
                    </a:p>
                  </a:txBody>
                  <a:tcPr anchor="ctr" marL="91440" marR="91440" marT="0" marB="0">
                    <a:solidFill>
                      <a:srgbClr val="FFFFFF"/>
                    </a:solidFill>
                  </a:tcPr>
                </a:tc>
              </a:tr>
              <a:tr h="560000">
                <a:tc>
                  <a:txBody>
                    <a:bodyPr/>
                    <a:lstStyle/>
                    <a:p>
                      <a:pPr algn="l"/>
                      <a:r>
                        <a:rPr sz="1500" b="1" i="0">
                          <a:solidFill>
                            <a:srgbClr val="222222"/>
                          </a:solidFill>
                          <a:latin typeface="Calibri"/>
                        </a:rPr>
                        <a:t>Median household income</a:t>
                      </a:r>
                    </a:p>
                  </a:txBody>
                  <a:tcPr anchor="ctr" marL="91440" marR="91440" marT="0" marB="0">
                    <a:solidFill>
                      <a:srgbClr val="F4F4F3"/>
                    </a:solidFill>
                  </a:tcPr>
                </a:tc>
                <a:tc>
                  <a:txBody>
                    <a:bodyPr/>
                    <a:lstStyle/>
                    <a:p>
                      <a:pPr algn="ctr"/>
                      <a:r>
                        <a:rPr sz="1500" b="0" i="0">
                          <a:solidFill>
                            <a:srgbClr val="222222"/>
                          </a:solidFill>
                          <a:latin typeface="Calibri"/>
                        </a:rPr>
                        <a:t>{{INCOME_1}}</a:t>
                      </a:r>
                    </a:p>
                  </a:txBody>
                  <a:tcPr anchor="ctr" marL="91440" marR="91440" marT="0" marB="0">
                    <a:solidFill>
                      <a:srgbClr val="F4F4F3"/>
                    </a:solidFill>
                  </a:tcPr>
                </a:tc>
                <a:tc>
                  <a:txBody>
                    <a:bodyPr/>
                    <a:lstStyle/>
                    <a:p>
                      <a:pPr algn="ctr"/>
                      <a:r>
                        <a:rPr sz="1500" b="0" i="0">
                          <a:solidFill>
                            <a:srgbClr val="222222"/>
                          </a:solidFill>
                          <a:latin typeface="Calibri"/>
                        </a:rPr>
                        <a:t>{{INCOME_3}}</a:t>
                      </a:r>
                    </a:p>
                  </a:txBody>
                  <a:tcPr anchor="ctr" marL="91440" marR="91440" marT="0" marB="0">
                    <a:solidFill>
                      <a:srgbClr val="F4F4F3"/>
                    </a:solidFill>
                  </a:tcPr>
                </a:tc>
                <a:tc>
                  <a:txBody>
                    <a:bodyPr/>
                    <a:lstStyle/>
                    <a:p>
                      <a:pPr algn="ctr"/>
                      <a:r>
                        <a:rPr sz="1500" b="0" i="0">
                          <a:solidFill>
                            <a:srgbClr val="222222"/>
                          </a:solidFill>
                          <a:latin typeface="Calibri"/>
                        </a:rPr>
                        <a:t>{{INCOME_5}}</a:t>
                      </a:r>
                    </a:p>
                  </a:txBody>
                  <a:tcPr anchor="ctr" marL="91440" marR="91440" marT="0" marB="0">
                    <a:solidFill>
                      <a:srgbClr val="F4F4F3"/>
                    </a:solidFill>
                  </a:tcPr>
                </a:tc>
              </a:tr>
              <a:tr h="560000">
                <a:tc>
                  <a:txBody>
                    <a:bodyPr/>
                    <a:lstStyle/>
                    <a:p>
                      <a:pPr algn="l"/>
                      <a:r>
                        <a:rPr sz="1500" b="1" i="0">
                          <a:solidFill>
                            <a:srgbClr val="222222"/>
                          </a:solidFill>
                          <a:latin typeface="Calibri"/>
                        </a:rPr>
                        <a:t>Median home value</a:t>
                      </a:r>
                    </a:p>
                  </a:txBody>
                  <a:tcPr anchor="ctr" marL="91440" marR="91440" marT="0" marB="0">
                    <a:solidFill>
                      <a:srgbClr val="FFFFFF"/>
                    </a:solidFill>
                  </a:tcPr>
                </a:tc>
                <a:tc>
                  <a:txBody>
                    <a:bodyPr/>
                    <a:lstStyle/>
                    <a:p>
                      <a:pPr algn="ctr"/>
                      <a:r>
                        <a:rPr sz="1500" b="0" i="0">
                          <a:solidFill>
                            <a:srgbClr val="222222"/>
                          </a:solidFill>
                          <a:latin typeface="Calibri"/>
                        </a:rPr>
                        <a:t>{{HOMEVAL_1}}</a:t>
                      </a:r>
                    </a:p>
                  </a:txBody>
                  <a:tcPr anchor="ctr" marL="91440" marR="91440" marT="0" marB="0">
                    <a:solidFill>
                      <a:srgbClr val="FFFFFF"/>
                    </a:solidFill>
                  </a:tcPr>
                </a:tc>
                <a:tc>
                  <a:txBody>
                    <a:bodyPr/>
                    <a:lstStyle/>
                    <a:p>
                      <a:pPr algn="ctr"/>
                      <a:r>
                        <a:rPr sz="1500" b="0" i="0">
                          <a:solidFill>
                            <a:srgbClr val="222222"/>
                          </a:solidFill>
                          <a:latin typeface="Calibri"/>
                        </a:rPr>
                        <a:t>{{HOMEVAL_3}}</a:t>
                      </a:r>
                    </a:p>
                  </a:txBody>
                  <a:tcPr anchor="ctr" marL="91440" marR="91440" marT="0" marB="0">
                    <a:solidFill>
                      <a:srgbClr val="FFFFFF"/>
                    </a:solidFill>
                  </a:tcPr>
                </a:tc>
                <a:tc>
                  <a:txBody>
                    <a:bodyPr/>
                    <a:lstStyle/>
                    <a:p>
                      <a:pPr algn="ctr"/>
                      <a:r>
                        <a:rPr sz="1500" b="0" i="0">
                          <a:solidFill>
                            <a:srgbClr val="222222"/>
                          </a:solidFill>
                          <a:latin typeface="Calibri"/>
                        </a:rPr>
                        <a:t>{{HOMEVAL_5}}</a:t>
                      </a:r>
                    </a:p>
                  </a:txBody>
                  <a:tcPr anchor="ctr" marL="91440" marR="91440" marT="0" marB="0">
                    <a:solidFill>
                      <a:srgbClr val="FFFFFF"/>
                    </a:solidFill>
                  </a:tcPr>
                </a:tc>
              </a:tr>
            </a:tbl>
          </a:graphicData>
        </a:graphic>
      </p:graphicFrame>
      <p:sp>
        <p:nvSpPr>
          <p:cNvPr id="176" name="TextBox 175"/>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U.S. Census Bureau, American Community Survey 5-year estimates. Ring figures are estimates.</a:t>
            </a:r>
          </a:p>
        </p:txBody>
      </p:sp>
      <p:sp>
        <p:nvSpPr>
          <p:cNvPr id="177" name="TextBox 176"/>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MARKET OVERVIEW</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8"/>
              </a:rPr>
              <a:t>{{AGENT_PHONE}}</a:t>
            </a:r>
            <a:r>
              <a:rPr lang="en" sz="1300">
                <a:solidFill>
                  <a:srgbClr val="000000"/>
                </a:solidFill>
              </a:rPr>
              <a:t>  </a:t>
            </a:r>
            <a:r>
              <a:rPr lang="en" sz="1300" u="sng">
                <a:solidFill>
                  <a:srgbClr val="C4521A"/>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171715"/>
                </a:solidFill>
                <a:latin typeface="Calibri"/>
              </a:rPr>
              <a:t>Traffic: daily vehicle counts near the site</a:t>
            </a:r>
          </a:p>
        </p:txBody>
      </p:sp>
      <p:sp>
        <p:nvSpPr>
          <p:cNvPr id="174" name="Rounded Rectangle 173"/>
          <p:cNvSpPr/>
          <p:nvPr/>
        </p:nvSpPr>
        <p:spPr>
          <a:xfrm>
            <a:off x="152175" y="1400000"/>
            <a:ext cx="3120367" cy="12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171715"/>
                </a:solidFill>
                <a:latin typeface="Calibri"/>
              </a:rPr>
              <a:t>{{TRAFFIC_1}}</a:t>
            </a:r>
          </a:p>
          <a:p>
            <a:pPr algn="ctr">
              <a:spcBef>
                <a:spcPts val="200"/>
              </a:spcBef>
            </a:pPr>
            <a:r>
              <a:rPr sz="1100" b="1" i="0">
                <a:solidFill>
                  <a:srgbClr val="222222"/>
                </a:solidFill>
                <a:latin typeface="Calibri"/>
              </a:rPr>
              <a:t>{{TRAFFIC_1_ROAD}}</a:t>
            </a:r>
          </a:p>
          <a:p>
            <a:pPr algn="ctr"/>
            <a:r>
              <a:rPr sz="900" b="0" i="0">
                <a:solidFill>
                  <a:srgbClr val="5A5A5A"/>
                </a:solidFill>
                <a:latin typeface="Calibri"/>
              </a:rPr>
              <a:t>{{TRAFFIC_1_WHERE}}</a:t>
            </a:r>
          </a:p>
        </p:txBody>
      </p:sp>
      <p:sp>
        <p:nvSpPr>
          <p:cNvPr id="175" name="Rounded Rectangle 174"/>
          <p:cNvSpPr/>
          <p:nvPr/>
        </p:nvSpPr>
        <p:spPr>
          <a:xfrm>
            <a:off x="3392542" y="1400000"/>
            <a:ext cx="3120367" cy="12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171715"/>
                </a:solidFill>
                <a:latin typeface="Calibri"/>
              </a:rPr>
              <a:t>{{TRAFFIC_2}}</a:t>
            </a:r>
          </a:p>
          <a:p>
            <a:pPr algn="ctr">
              <a:spcBef>
                <a:spcPts val="200"/>
              </a:spcBef>
            </a:pPr>
            <a:r>
              <a:rPr sz="1100" b="1" i="0">
                <a:solidFill>
                  <a:srgbClr val="222222"/>
                </a:solidFill>
                <a:latin typeface="Calibri"/>
              </a:rPr>
              <a:t>{{TRAFFIC_2_ROAD}}</a:t>
            </a:r>
          </a:p>
          <a:p>
            <a:pPr algn="ctr"/>
            <a:r>
              <a:rPr sz="900" b="0" i="0">
                <a:solidFill>
                  <a:srgbClr val="5A5A5A"/>
                </a:solidFill>
                <a:latin typeface="Calibri"/>
              </a:rPr>
              <a:t>{{TRAFFIC_2_WHERE}}</a:t>
            </a:r>
          </a:p>
        </p:txBody>
      </p:sp>
      <p:sp>
        <p:nvSpPr>
          <p:cNvPr id="176" name="Rounded Rectangle 175"/>
          <p:cNvSpPr/>
          <p:nvPr/>
        </p:nvSpPr>
        <p:spPr>
          <a:xfrm>
            <a:off x="6632909" y="1400000"/>
            <a:ext cx="3120367" cy="12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171715"/>
                </a:solidFill>
                <a:latin typeface="Calibri"/>
              </a:rPr>
              <a:t>{{TRAFFIC_3}}</a:t>
            </a:r>
          </a:p>
          <a:p>
            <a:pPr algn="ctr">
              <a:spcBef>
                <a:spcPts val="200"/>
              </a:spcBef>
            </a:pPr>
            <a:r>
              <a:rPr sz="1100" b="1" i="0">
                <a:solidFill>
                  <a:srgbClr val="222222"/>
                </a:solidFill>
                <a:latin typeface="Calibri"/>
              </a:rPr>
              <a:t>{{TRAFFIC_3_ROAD}}</a:t>
            </a:r>
          </a:p>
          <a:p>
            <a:pPr algn="ctr"/>
            <a:r>
              <a:rPr sz="900" b="0" i="0">
                <a:solidFill>
                  <a:srgbClr val="5A5A5A"/>
                </a:solidFill>
                <a:latin typeface="Calibri"/>
              </a:rPr>
              <a:t>{{TRAFFIC_3_WHERE}}</a:t>
            </a:r>
          </a:p>
        </p:txBody>
      </p:sp>
      <p:sp>
        <p:nvSpPr>
          <p:cNvPr id="177" name="TextBox 176"/>
          <p:cNvSpPr txBox="1"/>
          <p:nvPr/>
        </p:nvSpPr>
        <p:spPr>
          <a:xfrm>
            <a:off x="152175" y="2850000"/>
            <a:ext cx="9601102" cy="380000"/>
          </a:xfrm>
          <a:prstGeom prst="rect">
            <a:avLst/>
          </a:prstGeom>
          <a:noFill/>
        </p:spPr>
        <p:txBody>
          <a:bodyPr wrap="square" anchor="t">
            <a:spAutoFit/>
          </a:bodyPr>
          <a:lstStyle/>
          <a:p>
            <a:pPr algn="l"/>
            <a:r>
              <a:rPr sz="1600" b="1" i="0">
                <a:solidFill>
                  <a:srgbClr val="171715"/>
                </a:solidFill>
                <a:latin typeface="Calibri"/>
              </a:rPr>
              <a:t>Growth: ZIP code {{ZIP}}</a:t>
            </a:r>
          </a:p>
        </p:txBody>
      </p:sp>
      <p:sp>
        <p:nvSpPr>
          <p:cNvPr id="178" name="Rounded Rectangle 177"/>
          <p:cNvSpPr/>
          <p:nvPr/>
        </p:nvSpPr>
        <p:spPr>
          <a:xfrm>
            <a:off x="152175" y="3270000"/>
            <a:ext cx="3120367" cy="12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171715"/>
                </a:solidFill>
                <a:latin typeface="Calibri"/>
              </a:rPr>
              <a:t>{{ZIP_POP}}</a:t>
            </a:r>
          </a:p>
          <a:p>
            <a:pPr algn="ctr">
              <a:spcBef>
                <a:spcPts val="200"/>
              </a:spcBef>
            </a:pPr>
            <a:r>
              <a:rPr sz="1100" b="1" i="0">
                <a:solidFill>
                  <a:srgbClr val="222222"/>
                </a:solidFill>
                <a:latin typeface="Calibri"/>
              </a:rPr>
              <a:t>Population ({{YEAR}})</a:t>
            </a:r>
          </a:p>
          <a:p>
            <a:pPr algn="ctr"/>
            <a:r>
              <a:rPr sz="900" b="0" i="0">
                <a:solidFill>
                  <a:srgbClr val="5A5A5A"/>
                </a:solidFill>
                <a:latin typeface="Calibri"/>
              </a:rPr>
              <a:t>{{ZIP_POP_NOTE}}</a:t>
            </a:r>
          </a:p>
        </p:txBody>
      </p:sp>
      <p:sp>
        <p:nvSpPr>
          <p:cNvPr id="179" name="Rounded Rectangle 178"/>
          <p:cNvSpPr/>
          <p:nvPr/>
        </p:nvSpPr>
        <p:spPr>
          <a:xfrm>
            <a:off x="3392542" y="3270000"/>
            <a:ext cx="3120367" cy="12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171715"/>
                </a:solidFill>
                <a:latin typeface="Calibri"/>
              </a:rPr>
              <a:t>{{ZIP_GROWTH}}</a:t>
            </a:r>
          </a:p>
          <a:p>
            <a:pPr algn="ctr">
              <a:spcBef>
                <a:spcPts val="200"/>
              </a:spcBef>
            </a:pPr>
            <a:r>
              <a:rPr sz="1100" b="1" i="0">
                <a:solidFill>
                  <a:srgbClr val="222222"/>
                </a:solidFill>
                <a:latin typeface="Calibri"/>
              </a:rPr>
              <a:t>Growth since 2020</a:t>
            </a:r>
          </a:p>
          <a:p>
            <a:pPr algn="ctr"/>
            <a:r>
              <a:rPr sz="900" b="0" i="0">
                <a:solidFill>
                  <a:srgbClr val="5A5A5A"/>
                </a:solidFill>
                <a:latin typeface="Calibri"/>
              </a:rPr>
              <a:t>{{ZIP_GROWTH_NOTE}}</a:t>
            </a:r>
          </a:p>
        </p:txBody>
      </p:sp>
      <p:sp>
        <p:nvSpPr>
          <p:cNvPr id="180" name="Rounded Rectangle 179"/>
          <p:cNvSpPr/>
          <p:nvPr/>
        </p:nvSpPr>
        <p:spPr>
          <a:xfrm>
            <a:off x="6632909" y="3270000"/>
            <a:ext cx="3120367" cy="1250000"/>
          </a:xfrm>
          <a:prstGeom prst="roundRect">
            <a:avLst>
              <a:gd name="adj" fmla="val 8000"/>
            </a:avLst>
          </a:prstGeom>
          <a:solidFill>
            <a:srgbClr val="F4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171715"/>
                </a:solidFill>
                <a:latin typeface="Calibri"/>
              </a:rPr>
              <a:t>{{DAYTIME_POP}}</a:t>
            </a:r>
          </a:p>
          <a:p>
            <a:pPr algn="ctr">
              <a:spcBef>
                <a:spcPts val="200"/>
              </a:spcBef>
            </a:pPr>
            <a:r>
              <a:rPr sz="1100" b="1" i="0">
                <a:solidFill>
                  <a:srgbClr val="222222"/>
                </a:solidFill>
                <a:latin typeface="Calibri"/>
              </a:rPr>
              <a:t>Daytime population</a:t>
            </a:r>
          </a:p>
          <a:p>
            <a:pPr algn="ctr"/>
            <a:r>
              <a:rPr sz="900" b="0" i="0">
                <a:solidFill>
                  <a:srgbClr val="5A5A5A"/>
                </a:solidFill>
                <a:latin typeface="Calibri"/>
              </a:rPr>
              <a:t>people in the area on workdays</a:t>
            </a:r>
          </a:p>
        </p:txBody>
      </p:sp>
      <p:sp>
        <p:nvSpPr>
          <p:cNvPr id="181" name="TextBox 180"/>
          <p:cNvSpPr txBox="1"/>
          <p:nvPr/>
        </p:nvSpPr>
        <p:spPr>
          <a:xfrm>
            <a:off x="152175" y="4700000"/>
            <a:ext cx="9601102" cy="300000"/>
          </a:xfrm>
          <a:prstGeom prst="rect">
            <a:avLst/>
          </a:prstGeom>
          <a:noFill/>
        </p:spPr>
        <p:txBody>
          <a:bodyPr wrap="square" anchor="t">
            <a:spAutoFit/>
          </a:bodyPr>
          <a:lstStyle/>
          <a:p>
            <a:pPr algn="l"/>
            <a:r>
              <a:rPr sz="900" b="0" i="0">
                <a:solidFill>
                  <a:srgbClr val="5A5A5A"/>
                </a:solidFill>
                <a:latin typeface="Calibri"/>
              </a:rPr>
              <a:t>Sources: {{MARKET_SOURCES}}</a:t>
            </a:r>
          </a:p>
        </p:txBody>
      </p:sp>
      <p:sp>
        <p:nvSpPr>
          <p:cNvPr id="182" name="TextBox 181"/>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191" name="Shape 191"/>
        <p:cNvGrpSpPr/>
        <p:nvPr/>
      </p:nvGrpSpPr>
      <p:grpSpPr>
        <a:xfrm>
          <a:off x="0" y="0"/>
          <a:ext cx="0" cy="0"/>
          <a:chOff x="0" y="0"/>
          <a:chExt cx="0" cy="0"/>
        </a:xfrm>
      </p:grpSpPr>
      <p:pic>
        <p:nvPicPr>
          <p:cNvPr id="192" name="Google Shape;192;p22"/>
          <p:cNvPicPr preferRelativeResize="0"/>
          <p:nvPr/>
        </p:nvPicPr>
        <p:blipFill>
          <a:blip r:embed="rId3">
            <a:alphaModFix/>
          </a:blip>
          <a:stretch>
            <a:fillRect/>
          </a:stretch>
        </p:blipFill>
        <p:spPr>
          <a:xfrm>
            <a:off x="0" y="0"/>
            <a:ext cx="10058399" cy="831961"/>
          </a:xfrm>
          <a:prstGeom prst="rect">
            <a:avLst/>
          </a:prstGeom>
          <a:noFill/>
          <a:ln>
            <a:noFill/>
          </a:ln>
        </p:spPr>
      </p:pic>
      <p:sp>
        <p:nvSpPr>
          <p:cNvPr id="193" name="Google Shape;193;p22"/>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ABOUT US</a:t>
            </a:r>
            <a:endParaRPr lang="en-US" sz="2600" b="1">
              <a:solidFill>
                <a:srgbClr val="FFFFFF"/>
              </a:solidFill>
              <a:latin typeface="Calibri"/>
              <a:cs typeface="Calibri"/>
            </a:endParaRPr>
          </a:p>
        </p:txBody>
      </p:sp>
      <p:sp>
        <p:nvSpPr>
          <p:cNvPr id="194" name="Google Shape;194;p22"/>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 name="Google Shape;195;p22"/>
          <p:cNvPicPr preferRelativeResize="0"/>
          <p:nvPr/>
        </p:nvPicPr>
        <p:blipFill>
          <a:blip r:embed="rId4">
            <a:alphaModFix/>
          </a:blip>
          <a:stretch>
            <a:fillRect/>
          </a:stretch>
        </p:blipFill>
        <p:spPr>
          <a:xfrm>
            <a:off x="248875" y="1058900"/>
            <a:ext cx="2482476" cy="2945603"/>
          </a:xfrm>
          <a:prstGeom prst="rect">
            <a:avLst/>
          </a:prstGeom>
          <a:noFill/>
          <a:ln>
            <a:noFill/>
          </a:ln>
        </p:spPr>
      </p:pic>
      <p:sp>
        <p:nvSpPr>
          <p:cNvPr id="196" name="Google Shape;196;p22"/>
          <p:cNvSpPr txBox="1"/>
          <p:nvPr/>
        </p:nvSpPr>
        <p:spPr>
          <a:xfrm>
            <a:off x="2731375" y="1058900"/>
            <a:ext cx="7111200" cy="643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Calibri"/>
              <a:buNone/>
            </a:pPr>
            <a:r>
              <a:rPr lang="en" sz="1800">
                <a:solidFill>
                  <a:schemeClr val="dk1"/>
                </a:solidFill>
              </a:rPr>
              <a:t>{{AGENT_BIO}}  Three or four short first-person paragraphs: years in commercial real estate, markets and property types, recent work, and how you help clients. The agent approves it before it ships.</a:t>
            </a:r>
            <a:endParaRPr sz="1800">
              <a:solidFill>
                <a:schemeClr val="dk1"/>
              </a:solidFill>
            </a:endParaRPr>
          </a:p>
        </p:txBody>
      </p:sp>
      <p:sp>
        <p:nvSpPr>
          <p:cNvPr id="197" name="Google Shape;197;p22"/>
          <p:cNvSpPr txBox="1"/>
          <p:nvPr/>
        </p:nvSpPr>
        <p:spPr>
          <a:xfrm>
            <a:off x="428275" y="4092400"/>
            <a:ext cx="2303100" cy="1077300"/>
          </a:xfrm>
          <a:prstGeom prst="rect">
            <a:avLst/>
          </a:prstGeom>
          <a:noFill/>
          <a:ln>
            <a:noFill/>
          </a:ln>
        </p:spPr>
        <p:txBody>
          <a:bodyPr anchorCtr="0" anchor="t" bIns="91425" lIns="91425" spcFirstLastPara="1" rIns="91425" wrap="none" tIns="91425">
            <a:spAutoFit/>
          </a:bodyPr>
          <a:lstStyle/>
          <a:p>
            <a:pPr indent="0" lvl="0" marL="0" rtl="0" algn="l">
              <a:spcBef>
                <a:spcPts val="0"/>
              </a:spcBef>
              <a:spcAft>
                <a:spcPts val="0"/>
              </a:spcAft>
              <a:buNone/>
            </a:pPr>
            <a:r>
              <a:rPr b="1" lang="en" sz="2200"/>
              <a:t>{{AGENT_NAME}}</a:t>
            </a:r>
            <a:endParaRPr b="1" sz="2200"/>
          </a:p>
          <a:p>
            <a:pPr indent="0" lvl="0" marL="0" rtl="0" algn="l">
              <a:spcBef>
                <a:spcPts val="0"/>
              </a:spcBef>
              <a:spcAft>
                <a:spcPts val="0"/>
              </a:spcAft>
              <a:buNone/>
            </a:pPr>
            <a:r>
              <a:rPr b="1" lang="en" sz="2200"/>
              <a:t>{{AGENT_PHONE}}</a:t>
            </a:r>
            <a:endParaRPr b="1" sz="2200"/>
          </a:p>
          <a:p>
            <a:pPr indent="0" lvl="0" marL="0" rtl="0" algn="l">
              <a:spcBef>
                <a:spcPts val="0"/>
              </a:spcBef>
              <a:spcAft>
                <a:spcPts val="0"/>
              </a:spcAft>
              <a:buNone/>
            </a:pPr>
            <a:r>
              <a:rPr lang="en"/>
              <a:t> </a:t>
            </a:r>
            <a:endParaRPr/>
          </a:p>
        </p:txBody>
      </p:sp>
      <p:pic>
        <p:nvPicPr>
          <p:cNvPr id="198" name="Google Shape;198;p22">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199" name="Google Shape;199;p22">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201" name="Google Shape;201;p22"/>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10"/>
              </a:rPr>
              <a:t>{{AGENT_PHONE}}</a:t>
            </a:r>
            <a:r>
              <a:rPr lang="en" sz="1300">
                <a:solidFill>
                  <a:srgbClr val="000000"/>
                </a:solidFill>
              </a:rPr>
              <a:t>  </a:t>
            </a:r>
            <a:r>
              <a:rPr lang="en" sz="1300" u="sng">
                <a:solidFill>
                  <a:srgbClr val="C4521A"/>
                </a:solidFill>
                <a:hlinkClick r:id="rId9"/>
              </a:rPr>
              <a:t>{{AGENT_EMAIL}}</a:t>
            </a:r>
            <a:endParaRPr sz="1000">
              <a:solidFill>
                <a:srgbClr val="000000"/>
              </a:solidFill>
            </a:endParaRPr>
          </a:p>
        </p:txBody>
      </p:sp>
      <p:sp>
        <p:nvSpPr>
          <p:cNvPr id="202" name="TextBox 201"/>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217" name="Shape 217"/>
        <p:cNvGrpSpPr/>
        <p:nvPr/>
      </p:nvGrpSpPr>
      <p:grpSpPr>
        <a:xfrm>
          <a:off x="0" y="0"/>
          <a:ext cx="0" cy="0"/>
          <a:chOff x="0" y="0"/>
          <a:chExt cx="0" cy="0"/>
        </a:xfrm>
      </p:grpSpPr>
      <p:pic>
        <p:nvPicPr>
          <p:cNvPr id="218" name="Google Shape;218;p24"/>
          <p:cNvPicPr preferRelativeResize="0"/>
          <p:nvPr/>
        </p:nvPicPr>
        <p:blipFill>
          <a:blip r:embed="rId3">
            <a:alphaModFix/>
          </a:blip>
          <a:stretch>
            <a:fillRect/>
          </a:stretch>
        </p:blipFill>
        <p:spPr>
          <a:xfrm>
            <a:off x="0" y="0"/>
            <a:ext cx="10058399" cy="831961"/>
          </a:xfrm>
          <a:prstGeom prst="rect">
            <a:avLst/>
          </a:prstGeom>
          <a:noFill/>
          <a:ln>
            <a:noFill/>
          </a:ln>
        </p:spPr>
      </p:pic>
      <p:sp>
        <p:nvSpPr>
          <p:cNvPr id="219" name="Google Shape;219;p2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BROKERAGE DISCLOSURE</a:t>
            </a:r>
            <a:endParaRPr lang="en-US" sz="2600" b="1">
              <a:solidFill>
                <a:srgbClr val="FFFFFF"/>
              </a:solidFill>
              <a:latin typeface="Calibri"/>
              <a:cs typeface="Calibri"/>
            </a:endParaRPr>
          </a:p>
        </p:txBody>
      </p:sp>
      <p:sp>
        <p:nvSpPr>
          <p:cNvPr id="220" name="Google Shape;220;p24"/>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24"/>
          <p:cNvPicPr preferRelativeResize="0"/>
          <p:nvPr/>
        </p:nvPicPr>
        <p:blipFill>
          <a:blip r:embed="rId5">
            <a:alphaModFix/>
          </a:blip>
          <a:stretch>
            <a:fillRect/>
          </a:stretch>
        </p:blipFill>
        <p:spPr>
          <a:xfrm>
            <a:off x="2646575" y="1002025"/>
            <a:ext cx="4234801" cy="5480339"/>
          </a:xfrm>
          <a:prstGeom prst="rect">
            <a:avLst/>
          </a:prstGeom>
          <a:noFill/>
          <a:ln>
            <a:noFill/>
          </a:ln>
        </p:spPr>
      </p:pic>
      <p:sp>
        <p:nvSpPr>
          <p:cNvPr id="223" name="Google Shape;223;p24"/>
          <p:cNvSpPr txBox="1"/>
          <p:nvPr/>
        </p:nvSpPr>
        <p:spPr>
          <a:xfrm>
            <a:off x="4862275" y="6567500"/>
            <a:ext cx="22320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000000"/>
                </a:solidFill>
              </a:rPr>
              <a:t>{{AGENT_NAME}}</a:t>
            </a:r>
            <a:endParaRPr b="1"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{{AGENT_TITLE}}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{{AGENT_PHONE}}  Mobile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{{OFFICE_PHONE}}  Office</a:t>
            </a:r>
            <a:endParaRPr sz="1000">
              <a:solidFill>
                <a:srgbClr val="000000"/>
              </a:solidFill>
            </a:endParaRPr>
          </a:p>
          <a:p>
            <a:pPr indent="0" lvl="0" marL="0" rtl="0" algn="l">
              <a:lnSpc>
                <a:spcPct val="115000"/>
              </a:lnSpc>
              <a:spcBef>
                <a:spcPts val="0"/>
              </a:spcBef>
              <a:spcAft>
                <a:spcPts val="0"/>
              </a:spcAft>
              <a:buNone/>
            </a:pPr>
            <a:r>
              <a:rPr lang="en" sz="1000" u="sng">
                <a:solidFill>
                  <a:srgbClr val="C4521A"/>
                </a:solidFill>
                <a:hlinkClick r:id="rId6"/>
              </a:rPr>
              <a:t>{{AGENT_EMAIL}}</a:t>
            </a:r>
            <a:endParaRPr sz="1000">
              <a:solidFill>
                <a:srgbClr val="000000"/>
              </a:solidFill>
            </a:endParaRPr>
          </a:p>
          <a:p>
            <a:pPr indent="0" lvl="0" marL="0" rtl="0" algn="l">
              <a:lnSpc>
                <a:spcPct val="115000"/>
              </a:lnSpc>
              <a:spcBef>
                <a:spcPts val="0"/>
              </a:spcBef>
              <a:spcAft>
                <a:spcPts val="0"/>
              </a:spcAft>
              <a:buNone/>
            </a:pPr>
            <a:r>
              <a:t/>
            </a:r>
            <a:endParaRPr sz="1000">
              <a:solidFill>
                <a:srgbClr val="000000"/>
              </a:solidFill>
            </a:endParaRPr>
          </a:p>
        </p:txBody>
      </p:sp>
      <p:pic>
        <p:nvPicPr>
          <p:cNvPr id="224" name="Google Shape;224;p24">
            <a:hlinkClick r:id="rId7"/>
          </p:cNvPr>
          <p:cNvPicPr preferRelativeResize="0"/>
          <p:nvPr/>
        </p:nvPicPr>
        <p:blipFill>
          <a:blip r:embed="rId8">
            <a:alphaModFix/>
          </a:blip>
          <a:stretch>
            <a:fillRect/>
          </a:stretch>
        </p:blipFill>
        <p:spPr>
          <a:xfrm>
            <a:off x="7597225" y="155813"/>
            <a:ext cx="2286000" cy="476250"/>
          </a:xfrm>
          <a:prstGeom prst="rect">
            <a:avLst/>
          </a:prstGeom>
          <a:noFill/>
          <a:ln>
            <a:noFill/>
          </a:ln>
        </p:spPr>
      </p:pic>
      <p:pic>
        <p:nvPicPr>
          <p:cNvPr id="225" name="Google Shape;225;p24">
            <a:hlinkClick r:id="rId9"/>
          </p:cNvPr>
          <p:cNvPicPr preferRelativeResize="0"/>
          <p:nvPr/>
        </p:nvPicPr>
        <p:blipFill>
          <a:blip r:embed="rId10">
            <a:alphaModFix/>
          </a:blip>
          <a:stretch>
            <a:fillRect/>
          </a:stretch>
        </p:blipFill>
        <p:spPr>
          <a:xfrm>
            <a:off x="152175" y="6710950"/>
            <a:ext cx="3868468" cy="924450"/>
          </a:xfrm>
          <a:prstGeom prst="rect">
            <a:avLst/>
          </a:prstGeom>
          <a:noFill/>
          <a:ln>
            <a:noFill/>
          </a:ln>
        </p:spPr>
      </p:pic>
      <p:sp>
        <p:nvSpPr>
          <p:cNvPr id="226" name="TextBox 225"/>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CONFIDENTIALITY &amp; DISCLAIMER</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ED6B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C4521A"/>
                </a:solidFill>
                <a:hlinkClick r:id="rId8"/>
              </a:rPr>
              <a:t>{{AGENT_PHONE}}</a:t>
            </a:r>
            <a:r>
              <a:rPr lang="en" sz="1300">
                <a:solidFill>
                  <a:srgbClr val="000000"/>
                </a:solidFill>
              </a:rPr>
              <a:t>  </a:t>
            </a:r>
            <a:r>
              <a:rPr lang="en" sz="1300" u="sng">
                <a:solidFill>
                  <a:srgbClr val="C4521A"/>
                </a:solidFill>
                <a:hlinkClick r:id="rId2"/>
              </a:rPr>
              <a:t>{{AGENT_EMAIL}}</a:t>
            </a:r>
            <a:endParaRPr sz="1000">
              <a:solidFill>
                <a:srgbClr val="000000"/>
              </a:solidFill>
            </a:endParaRPr>
          </a:p>
        </p:txBody>
      </p:sp>
      <p:sp>
        <p:nvSpPr>
          <p:cNvPr id="173" name="TextBox 172"/>
          <p:cNvSpPr txBox="1"/>
          <p:nvPr/>
        </p:nvSpPr>
        <p:spPr>
          <a:xfrm>
            <a:off x="252175" y="1060000"/>
            <a:ext cx="9401102" cy="5300000"/>
          </a:xfrm>
          <a:prstGeom prst="rect">
            <a:avLst/>
          </a:prstGeom>
          <a:noFill/>
        </p:spPr>
        <p:txBody>
          <a:bodyPr wrap="square" anchor="t">
            <a:spAutoFit/>
          </a:bodyPr>
          <a:lstStyle/>
          <a:p>
            <a:pPr algn="l">
              <a:spcBef>
                <a:spcPts val="0"/>
              </a:spcBef>
            </a:pPr>
            <a:r>
              <a:rPr sz="1400" b="0" i="0">
                <a:solidFill>
                  <a:srgbClr val="222222"/>
                </a:solidFill>
                <a:latin typeface="Calibri"/>
              </a:rPr>
              <a:t>This Offering Memorandum was prepared by {{TEAM_NAME}} to help prospective purchasers evaluate {{ADDRESS}}, {{CITY}}, {{STATE}} {{ZIP}} (the "Property"). It is confidential and may not be copied or shared with anyone other than the recipient's advisors without the broker's written consent.</a:t>
            </a:r>
          </a:p>
          <a:p>
            <a:pPr algn="l">
              <a:spcBef>
                <a:spcPts val="1200"/>
              </a:spcBef>
            </a:pPr>
            <a:r>
              <a:rPr sz="1400" b="0" i="0">
                <a:solidFill>
                  <a:srgbClr val="222222"/>
                </a:solidFill>
                <a:latin typeface="Calibri"/>
              </a:rPr>
              <a:t>The information in this memorandum was obtained from sources believed to be reliable, including the seller, public records, the U.S. Census Bureau and third-party data providers. However, the broker and seller make no warranty or representation, expressed or implied, as to its accuracy or completeness. Size, zoning, utilities, floodplain, traffic counts, demographics and potential uses are estimates or opinions and must be independently verified.</a:t>
            </a:r>
          </a:p>
          <a:p>
            <a:pPr algn="l">
              <a:spcBef>
                <a:spcPts val="1200"/>
              </a:spcBef>
            </a:pPr>
            <a:r>
              <a:rPr sz="1400" b="0" i="0">
                <a:solidFill>
                  <a:srgbClr val="222222"/>
                </a:solidFill>
                <a:latin typeface="Calibri"/>
              </a:rPr>
              <a:t>Prospective purchasers should conduct their own investigation of the Property, including survey, title, environmental, zoning, utility and floodplain review, and consult their own legal, tax and engineering advisors.</a:t>
            </a:r>
          </a:p>
          <a:p>
            <a:pPr algn="l">
              <a:spcBef>
                <a:spcPts val="1200"/>
              </a:spcBef>
            </a:pPr>
            <a:r>
              <a:rPr sz="1400" b="0" i="0">
                <a:solidFill>
                  <a:srgbClr val="222222"/>
                </a:solidFill>
                <a:latin typeface="Calibri"/>
              </a:rPr>
              <a:t>The seller reserves the right to accept or reject any offer, and to change the price or terms or withdraw the Property from the market, at any time without notice. Only a fully executed purchase contract will bind the seller.</a:t>
            </a:r>
          </a:p>
          <a:p>
            <a:pPr algn="l">
              <a:spcBef>
                <a:spcPts val="1200"/>
              </a:spcBef>
            </a:pPr>
            <a:r>
              <a:rPr sz="1400" b="0" i="0">
                <a:solidFill>
                  <a:srgbClr val="222222"/>
                </a:solidFill>
                <a:latin typeface="Calibri"/>
              </a:rPr>
              <a:t>Brokerage services are provided by {{BROKERAGE_LEGAL_NAME}}, license {{BROKERAGE_LICENSE}}. Each SVN® office is independently owned and operated.</a:t>
            </a:r>
          </a:p>
        </p:txBody>
      </p:sp>
      <p:sp>
        <p:nvSpPr>
          <p:cNvPr id="174" name="TextBox 173"/>
          <p:cNvSpPr txBox="1"/>
          <p:nvPr/>
        </p:nvSpPr>
        <p:spPr>
          <a:xfrm>
            <a:off x="155448" y="7315200"/>
            <a:ext cx="3867912" cy="256032"/>
          </a:xfrm>
          <a:prstGeom prst="rect">
            <a:avLst/>
          </a:prstGeom>
          <a:noFill/>
        </p:spPr>
        <p:txBody>
          <a:bodyPr wrap="square" lIns="18288" rIns="18288" tIns="0" bIns="0">
            <a:spAutoFit/>
          </a:bodyPr>
          <a:lstStyle/>
          <a:p>
            <a:r>
              <a:rPr sz="900" b="1">
                <a:solidFill>
                  <a:srgbClr val="171715"/>
                </a:solidFill>
                <a:latin typeface="Calibri"/>
              </a:rPr>
              <a:t>{{TEAM_NAME}}  |  {{WEBSITE}}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